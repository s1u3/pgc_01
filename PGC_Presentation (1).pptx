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Execution Time (s)</c:v>
                </c:pt>
              </c:strCache>
            </c:strRef>
          </c:tx>
          <c:spPr>
            <a:ln w="31750" cap="flat">
              <a:solidFill>
                <a:srgbClr val="0B4BC4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0B4BC4"/>
              </a:solidFill>
              <a:ln w="9525" cap="flat">
                <a:solidFill>
                  <a:srgbClr val="0B4BC4"/>
                </a:solidFill>
                <a:prstDash val="solid"/>
                <a:round/>
              </a:ln>
              <a:effectLst/>
            </c:spPr>
          </c:marker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44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6.7860000000000004E-3</c:v>
                </c:pt>
                <c:pt idx="1">
                  <c:v>4.1729999999999996E-3</c:v>
                </c:pt>
                <c:pt idx="2">
                  <c:v>3.2729999999999999E-3</c:v>
                </c:pt>
                <c:pt idx="3">
                  <c:v>1.3438E-2</c:v>
                </c:pt>
                <c:pt idx="4">
                  <c:v>1.3632E-2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E1-479A-A3B5-189306BCC98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600" b="0" i="0" u="none" strike="noStrike">
                    <a:solidFill>
                      <a:srgbClr val="0B1F4D"/>
                    </a:solidFill>
                    <a:latin typeface="Calibri"/>
                  </a:defRPr>
                </a:pPr>
                <a:r>
                  <a:rPr lang="en-IN" sz="1600" b="0" i="0" u="none" strike="noStrike">
                    <a:solidFill>
                      <a:srgbClr val="0B1F4D"/>
                    </a:solidFill>
                    <a:latin typeface="Calibri"/>
                  </a:rPr>
                  <a:t>Number of Threads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7999999999999999E-2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0B1F4D"/>
                    </a:solidFill>
                    <a:latin typeface="Calibri"/>
                  </a:defRPr>
                </a:pPr>
                <a:r>
                  <a:rPr lang="en-IN" sz="1400" b="0" i="0" u="none" strike="noStrike">
                    <a:solidFill>
                      <a:srgbClr val="0B1F4D"/>
                    </a:solidFill>
                    <a:latin typeface="Calibri"/>
                  </a:rPr>
                  <a:t>Execution Time (seconds)</a:t>
                </a:r>
              </a:p>
            </c:rich>
          </c:tx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E-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ln w="31750" cap="flat">
              <a:solidFill>
                <a:srgbClr val="E5484D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44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1.63</c:v>
                </c:pt>
                <c:pt idx="2">
                  <c:v>2.0699999999999998</c:v>
                </c:pt>
                <c:pt idx="3">
                  <c:v>0.51</c:v>
                </c:pt>
                <c:pt idx="4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5B-478B-957E-2812A9B4A3D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B1F4D"/>
                    </a:solidFill>
                    <a:latin typeface="Calibri"/>
                  </a:defRPr>
                </a:pPr>
                <a:r>
                  <a:rPr lang="en-IN" sz="1200" b="0" i="0" u="none" strike="noStrike">
                    <a:solidFill>
                      <a:srgbClr val="0B1F4D"/>
                    </a:solidFill>
                    <a:latin typeface="Calibri"/>
                  </a:rPr>
                  <a:t>Number of Threads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B1F4D"/>
                    </a:solidFill>
                    <a:latin typeface="Calibri"/>
                  </a:defRPr>
                </a:pPr>
                <a:r>
                  <a:rPr lang="en-IN" sz="1200" b="0" i="0" u="none" strike="noStrike">
                    <a:solidFill>
                      <a:srgbClr val="0B1F4D"/>
                    </a:solidFill>
                    <a:latin typeface="Calibri"/>
                  </a:rPr>
                  <a:t>Speedup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(%)</c:v>
                </c:pt>
              </c:strCache>
            </c:strRef>
          </c:tx>
          <c:spPr>
            <a:solidFill>
              <a:srgbClr val="5DAF8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B1F4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81.3</c:v>
                </c:pt>
                <c:pt idx="2">
                  <c:v>51.9</c:v>
                </c:pt>
                <c:pt idx="3">
                  <c:v>6.3</c:v>
                </c:pt>
                <c:pt idx="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35-45FD-A0F0-A985A2674D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B1F4D"/>
                    </a:solidFill>
                    <a:latin typeface="Calibri"/>
                  </a:defRPr>
                </a:pPr>
                <a:r>
                  <a:rPr lang="en-IN" sz="1200" b="0" i="0" u="none" strike="noStrike">
                    <a:solidFill>
                      <a:srgbClr val="0B1F4D"/>
                    </a:solidFill>
                    <a:latin typeface="Calibri"/>
                  </a:rPr>
                  <a:t>Number of Threads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B1F4D"/>
                    </a:solidFill>
                    <a:latin typeface="Calibri"/>
                  </a:defRPr>
                </a:pPr>
                <a:r>
                  <a:rPr lang="en-IN" sz="1200" b="0" i="0" u="none" strike="noStrike">
                    <a:solidFill>
                      <a:srgbClr val="0B1F4D"/>
                    </a:solidFill>
                    <a:latin typeface="Calibri"/>
                  </a:rPr>
                  <a:t>Efficiency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07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gh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975" y="0"/>
            <a:ext cx="4900011" cy="686147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91667"/>
            <a:ext cx="5432304" cy="517710"/>
          </a:xfrm>
          <a:prstGeom prst="rect">
            <a:avLst/>
          </a:prstGeom>
          <a:solidFill>
            <a:srgbClr val="BFD9F8"/>
          </a:solidFill>
          <a:ln w="12700">
            <a:solidFill>
              <a:srgbClr val="BFD9F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32304" y="291667"/>
            <a:ext cx="218751" cy="517710"/>
          </a:xfrm>
          <a:prstGeom prst="rect">
            <a:avLst/>
          </a:prstGeom>
          <a:solidFill>
            <a:srgbClr val="BFD9F8"/>
          </a:solidFill>
          <a:ln w="12700">
            <a:solidFill>
              <a:srgbClr val="BFD9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95834" y="291667"/>
            <a:ext cx="4958345" cy="517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GPU and Computing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78138" y="597918"/>
            <a:ext cx="1713546" cy="21875"/>
          </a:xfrm>
          <a:prstGeom prst="rect">
            <a:avLst/>
          </a:prstGeom>
          <a:solidFill>
            <a:srgbClr val="0B4FA8"/>
          </a:solidFill>
          <a:ln w="12700">
            <a:solidFill>
              <a:srgbClr val="0B4F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1251" y="1203128"/>
            <a:ext cx="6927100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Sum and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481251" y="1983338"/>
            <a:ext cx="6927100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</a:t>
            </a:r>
            <a:r>
              <a:rPr lang="en-US" sz="5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Dataset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510418" y="2880215"/>
            <a:ext cx="729168" cy="36458"/>
          </a:xfrm>
          <a:prstGeom prst="rect">
            <a:avLst/>
          </a:prstGeom>
          <a:solidFill>
            <a:srgbClr val="0B4FA8"/>
          </a:solidFill>
          <a:ln w="12700">
            <a:solidFill>
              <a:srgbClr val="0B4F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39586" y="2880215"/>
            <a:ext cx="364584" cy="36458"/>
          </a:xfrm>
          <a:prstGeom prst="rect">
            <a:avLst/>
          </a:prstGeom>
          <a:solidFill>
            <a:srgbClr val="9AA9C4"/>
          </a:solidFill>
          <a:ln w="12700">
            <a:solidFill>
              <a:srgbClr val="9AA9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0418" y="3047924"/>
            <a:ext cx="6562515" cy="72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computation using OpenMP to calculate sum and average of a large dataset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01043" y="3864592"/>
            <a:ext cx="1494795" cy="1509379"/>
          </a:xfrm>
          <a:prstGeom prst="roundRect">
            <a:avLst>
              <a:gd name="adj" fmla="val 611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2189" y="3937509"/>
            <a:ext cx="612501" cy="612501"/>
          </a:xfrm>
          <a:prstGeom prst="ellipse">
            <a:avLst/>
          </a:prstGeom>
          <a:solidFill>
            <a:srgbClr val="D6E6FA"/>
          </a:solidFill>
          <a:ln w="12700">
            <a:solidFill>
              <a:srgbClr val="D6E6F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23" y="4083343"/>
            <a:ext cx="320834" cy="32083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1043" y="4593761"/>
            <a:ext cx="1494795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01043" y="4841678"/>
            <a:ext cx="1494795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10,000,000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401043" y="5082304"/>
            <a:ext cx="1494795" cy="18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990630" y="3864592"/>
            <a:ext cx="1706254" cy="1509379"/>
          </a:xfrm>
          <a:prstGeom prst="roundRect">
            <a:avLst>
              <a:gd name="adj" fmla="val 605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537506" y="3937509"/>
            <a:ext cx="612501" cy="612501"/>
          </a:xfrm>
          <a:prstGeom prst="ellipse">
            <a:avLst/>
          </a:prstGeom>
          <a:solidFill>
            <a:srgbClr val="DDD6F7"/>
          </a:solidFill>
          <a:ln w="12700">
            <a:solidFill>
              <a:srgbClr val="DDD6F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3340" y="4083343"/>
            <a:ext cx="320834" cy="32083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990630" y="4593761"/>
            <a:ext cx="1706254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Framework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990630" y="4841678"/>
            <a:ext cx="1706254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2100" dirty="0"/>
          </a:p>
        </p:txBody>
      </p:sp>
      <p:sp>
        <p:nvSpPr>
          <p:cNvPr id="23" name="Shape 18"/>
          <p:cNvSpPr/>
          <p:nvPr/>
        </p:nvSpPr>
        <p:spPr>
          <a:xfrm>
            <a:off x="3733342" y="3864592"/>
            <a:ext cx="1822921" cy="1509379"/>
          </a:xfrm>
          <a:prstGeom prst="roundRect">
            <a:avLst>
              <a:gd name="adj" fmla="val 605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338552" y="3937509"/>
            <a:ext cx="612501" cy="612501"/>
          </a:xfrm>
          <a:prstGeom prst="ellipse">
            <a:avLst/>
          </a:prstGeom>
          <a:solidFill>
            <a:srgbClr val="CFF0E3"/>
          </a:solidFill>
          <a:ln w="12700">
            <a:solidFill>
              <a:srgbClr val="CFF0E3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385" y="4083343"/>
            <a:ext cx="320834" cy="32083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733342" y="4593761"/>
            <a:ext cx="1822921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3733342" y="4841678"/>
            <a:ext cx="1822921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100" dirty="0"/>
          </a:p>
        </p:txBody>
      </p:sp>
      <p:sp>
        <p:nvSpPr>
          <p:cNvPr id="28" name="Shape 22"/>
          <p:cNvSpPr/>
          <p:nvPr/>
        </p:nvSpPr>
        <p:spPr>
          <a:xfrm>
            <a:off x="5614596" y="3864592"/>
            <a:ext cx="1531254" cy="1509379"/>
          </a:xfrm>
          <a:prstGeom prst="roundRect">
            <a:avLst>
              <a:gd name="adj" fmla="val 605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73973" y="3937509"/>
            <a:ext cx="612501" cy="612501"/>
          </a:xfrm>
          <a:prstGeom prst="ellipse">
            <a:avLst/>
          </a:prstGeom>
          <a:solidFill>
            <a:srgbClr val="FDE6C6"/>
          </a:solidFill>
          <a:ln w="12700">
            <a:solidFill>
              <a:srgbClr val="FDE6C6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9806" y="4083343"/>
            <a:ext cx="320834" cy="32083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614596" y="4593761"/>
            <a:ext cx="1531254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5614596" y="4841678"/>
            <a:ext cx="1531254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100" dirty="0"/>
          </a:p>
        </p:txBody>
      </p:sp>
      <p:sp>
        <p:nvSpPr>
          <p:cNvPr id="33" name="Text 26"/>
          <p:cNvSpPr txBox="1"/>
          <p:nvPr/>
        </p:nvSpPr>
        <p:spPr>
          <a:xfrm>
            <a:off x="5614596" y="5082304"/>
            <a:ext cx="1531254" cy="18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processors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459376" y="5512513"/>
            <a:ext cx="8013560" cy="1093753"/>
          </a:xfrm>
          <a:prstGeom prst="roundRect">
            <a:avLst>
              <a:gd name="adj" fmla="val 8360"/>
            </a:avLst>
          </a:prstGeom>
          <a:solidFill>
            <a:srgbClr val="E3ECFA"/>
          </a:solidFill>
          <a:ln w="12700">
            <a:solidFill>
              <a:srgbClr val="E3ECF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41668" y="5665638"/>
            <a:ext cx="787502" cy="787502"/>
          </a:xfrm>
          <a:prstGeom prst="ellipse">
            <a:avLst/>
          </a:prstGeom>
          <a:solidFill>
            <a:srgbClr val="BBD6F7"/>
          </a:solidFill>
          <a:ln w="12700">
            <a:solidFill>
              <a:srgbClr val="BBD6F7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377" y="5833347"/>
            <a:ext cx="452084" cy="45208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655212" y="5651055"/>
            <a:ext cx="14583" cy="809377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1968755" y="5600013"/>
            <a:ext cx="3645842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(3)</a:t>
            </a:r>
            <a:endParaRPr lang="en-US" sz="1900" dirty="0"/>
          </a:p>
        </p:txBody>
      </p:sp>
      <p:sp>
        <p:nvSpPr>
          <p:cNvPr id="39" name="Text 31"/>
          <p:cNvSpPr txBox="1"/>
          <p:nvPr/>
        </p:nvSpPr>
        <p:spPr>
          <a:xfrm>
            <a:off x="1968755" y="5862514"/>
            <a:ext cx="3645842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1 – Roll No.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1968755" y="6081264"/>
            <a:ext cx="3645842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2 – Roll No.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1968755" y="6300015"/>
            <a:ext cx="3645842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3 – Roll No.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8127"/>
          </a:xfrm>
          <a:prstGeom prst="rect">
            <a:avLst/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3753" y="0"/>
            <a:ext cx="6489599" cy="678127"/>
          </a:xfrm>
          <a:prstGeom prst="rect">
            <a:avLst/>
          </a:prstGeom>
          <a:solidFill>
            <a:srgbClr val="D6E6FB"/>
          </a:solidFill>
          <a:ln w="12700">
            <a:solidFill>
              <a:srgbClr val="D6E6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03128" cy="678127"/>
          </a:xfrm>
          <a:prstGeom prst="homePlate">
            <a:avLst/>
          </a:prstGeom>
          <a:solidFill>
            <a:srgbClr val="1B5BA8"/>
          </a:solidFill>
          <a:ln w="12700">
            <a:solidFill>
              <a:srgbClr val="1B5B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0"/>
            <a:ext cx="1057294" cy="678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545837" y="0"/>
            <a:ext cx="6197931" cy="678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348978" y="240626"/>
            <a:ext cx="2479172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3B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GPU and Computing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01067" y="335417"/>
            <a:ext cx="984377" cy="21875"/>
          </a:xfrm>
          <a:prstGeom prst="rect">
            <a:avLst/>
          </a:prstGeom>
          <a:solidFill>
            <a:srgbClr val="0B3A8A"/>
          </a:solidFill>
          <a:ln w="12700">
            <a:solidFill>
              <a:srgbClr val="0B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6278" y="255209"/>
            <a:ext cx="175000" cy="175000"/>
          </a:xfrm>
          <a:prstGeom prst="ellipse">
            <a:avLst/>
          </a:prstGeom>
          <a:solidFill>
            <a:srgbClr val="0B3A8A"/>
          </a:solidFill>
          <a:ln w="12700">
            <a:solidFill>
              <a:srgbClr val="0B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2501" y="896877"/>
            <a:ext cx="6176056" cy="1604170"/>
          </a:xfrm>
          <a:prstGeom prst="roundRect">
            <a:avLst>
              <a:gd name="adj" fmla="val 2850"/>
            </a:avLst>
          </a:prstGeom>
          <a:solidFill>
            <a:srgbClr val="FCEEEE"/>
          </a:solidFill>
          <a:ln w="12700">
            <a:solidFill>
              <a:srgbClr val="FC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209" y="1020836"/>
            <a:ext cx="743752" cy="743752"/>
          </a:xfrm>
          <a:prstGeom prst="ellipse">
            <a:avLst/>
          </a:prstGeom>
          <a:solidFill>
            <a:srgbClr val="F7D3D3"/>
          </a:solidFill>
          <a:ln w="12700">
            <a:solidFill>
              <a:srgbClr val="F7D3D3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01" y="1203128"/>
            <a:ext cx="379168" cy="3791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297920" y="1035419"/>
            <a:ext cx="3113549" cy="525001"/>
          </a:xfrm>
          <a:prstGeom prst="roundRect">
            <a:avLst>
              <a:gd name="adj" fmla="val 20901"/>
            </a:avLst>
          </a:prstGeom>
          <a:solidFill>
            <a:srgbClr val="F9DADA"/>
          </a:solidFill>
          <a:ln w="12700">
            <a:solidFill>
              <a:srgbClr val="F9DA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72920" y="1035419"/>
            <a:ext cx="2894798" cy="52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239586" y="1713546"/>
            <a:ext cx="5031262" cy="619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sum and average of a large dataset efficiently using parallel computation.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62501" y="2610423"/>
            <a:ext cx="6176056" cy="2231255"/>
          </a:xfrm>
          <a:prstGeom prst="roundRect">
            <a:avLst>
              <a:gd name="adj" fmla="val 2049"/>
            </a:avLst>
          </a:prstGeom>
          <a:solidFill>
            <a:srgbClr val="EBF1FC"/>
          </a:solidFill>
          <a:ln w="12700">
            <a:solidFill>
              <a:srgbClr val="EBF1F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0209" y="2734381"/>
            <a:ext cx="743752" cy="743752"/>
          </a:xfrm>
          <a:prstGeom prst="ellipse">
            <a:avLst/>
          </a:prstGeom>
          <a:solidFill>
            <a:srgbClr val="D6E6FA"/>
          </a:solidFill>
          <a:ln w="12700">
            <a:solidFill>
              <a:srgbClr val="D6E6FA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01" y="2916673"/>
            <a:ext cx="379168" cy="37916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297920" y="2748965"/>
            <a:ext cx="2180213" cy="525001"/>
          </a:xfrm>
          <a:prstGeom prst="roundRect">
            <a:avLst>
              <a:gd name="adj" fmla="val 20901"/>
            </a:avLst>
          </a:prstGeom>
          <a:solidFill>
            <a:srgbClr val="D9E6FB"/>
          </a:solidFill>
          <a:ln w="12700">
            <a:solidFill>
              <a:srgbClr val="D9E6F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72920" y="2748965"/>
            <a:ext cx="1961463" cy="52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97918" y="3565633"/>
            <a:ext cx="87500" cy="87500"/>
          </a:xfrm>
          <a:prstGeom prst="ellipse">
            <a:avLst/>
          </a:prstGeom>
          <a:solidFill>
            <a:srgbClr val="2F5BB0"/>
          </a:solidFill>
          <a:ln w="12700">
            <a:solidFill>
              <a:srgbClr val="2F5BB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45835" y="3463550"/>
            <a:ext cx="5395846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parallel computation using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597918" y="3871884"/>
            <a:ext cx="87500" cy="87500"/>
          </a:xfrm>
          <a:prstGeom prst="ellipse">
            <a:avLst/>
          </a:prstGeom>
          <a:solidFill>
            <a:srgbClr val="2F5BB0"/>
          </a:solidFill>
          <a:ln w="12700">
            <a:solidFill>
              <a:srgbClr val="2F5BB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45835" y="3769800"/>
            <a:ext cx="5395846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with different thread counts.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97918" y="4178135"/>
            <a:ext cx="87500" cy="87500"/>
          </a:xfrm>
          <a:prstGeom prst="ellipse">
            <a:avLst/>
          </a:prstGeom>
          <a:solidFill>
            <a:srgbClr val="2F5BB0"/>
          </a:solidFill>
          <a:ln w="12700">
            <a:solidFill>
              <a:srgbClr val="2F5BB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45835" y="4076051"/>
            <a:ext cx="5395846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Analyze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597918" y="4491677"/>
            <a:ext cx="87500" cy="87500"/>
          </a:xfrm>
          <a:prstGeom prst="ellipse">
            <a:avLst/>
          </a:prstGeom>
          <a:solidFill>
            <a:srgbClr val="2F5BB0"/>
          </a:solidFill>
          <a:ln w="12700">
            <a:solidFill>
              <a:srgbClr val="2F5BB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45835" y="4389594"/>
            <a:ext cx="5395846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impact of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on performance.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262501" y="4958345"/>
            <a:ext cx="6176056" cy="1618754"/>
          </a:xfrm>
          <a:prstGeom prst="roundRect">
            <a:avLst>
              <a:gd name="adj" fmla="val 2824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30209" y="5082304"/>
            <a:ext cx="743752" cy="743752"/>
          </a:xfrm>
          <a:prstGeom prst="ellipse">
            <a:avLst/>
          </a:prstGeom>
          <a:solidFill>
            <a:srgbClr val="CDEBDA"/>
          </a:solidFill>
          <a:ln w="12700">
            <a:solidFill>
              <a:srgbClr val="CDEBDA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501" y="5264596"/>
            <a:ext cx="379168" cy="379168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1341670" y="5096887"/>
            <a:ext cx="2450006" cy="525001"/>
          </a:xfrm>
          <a:prstGeom prst="roundRect">
            <a:avLst>
              <a:gd name="adj" fmla="val 20901"/>
            </a:avLst>
          </a:prstGeom>
          <a:solidFill>
            <a:srgbClr val="D5EBDD"/>
          </a:solidFill>
          <a:ln w="12700">
            <a:solidFill>
              <a:srgbClr val="D5EBDD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516670" y="5096887"/>
            <a:ext cx="2231255" cy="52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1166669" y="5913556"/>
            <a:ext cx="87500" cy="87500"/>
          </a:xfrm>
          <a:prstGeom prst="ellipse">
            <a:avLst/>
          </a:prstGeom>
          <a:solidFill>
            <a:srgbClr val="0F6B4B"/>
          </a:solidFill>
          <a:ln w="12700">
            <a:solidFill>
              <a:srgbClr val="0F6B4B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392712" y="5811472"/>
            <a:ext cx="5395846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10,000,000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elements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1166669" y="6227098"/>
            <a:ext cx="87500" cy="87500"/>
          </a:xfrm>
          <a:prstGeom prst="ellipse">
            <a:avLst/>
          </a:prstGeom>
          <a:solidFill>
            <a:srgbClr val="0F6B4B"/>
          </a:solidFill>
          <a:ln w="12700">
            <a:solidFill>
              <a:srgbClr val="0F6B4B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1392712" y="6125014"/>
            <a:ext cx="5395846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All elements are 1 (for verification)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6650016" y="896877"/>
            <a:ext cx="5286471" cy="473959"/>
          </a:xfrm>
          <a:prstGeom prst="roundRect">
            <a:avLst>
              <a:gd name="adj" fmla="val 38586"/>
            </a:avLst>
          </a:prstGeom>
          <a:solidFill>
            <a:srgbClr val="E3ECFB"/>
          </a:solidFill>
          <a:ln w="12700">
            <a:solidFill>
              <a:srgbClr val="E3ECFB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890641" y="896877"/>
            <a:ext cx="4958345" cy="47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Goal: Compute Sum and Average in Parallel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6650016" y="1370837"/>
            <a:ext cx="5286471" cy="5206262"/>
          </a:xfrm>
          <a:prstGeom prst="roundRect">
            <a:avLst>
              <a:gd name="adj" fmla="val 703"/>
            </a:avLst>
          </a:prstGeom>
          <a:solidFill>
            <a:srgbClr val="F5F8FE"/>
          </a:solidFill>
          <a:ln w="12700">
            <a:solidFill>
              <a:srgbClr val="E3EAF7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998977" y="1618754"/>
            <a:ext cx="2559381" cy="641668"/>
          </a:xfrm>
          <a:prstGeom prst="roundRect">
            <a:avLst>
              <a:gd name="adj" fmla="val 11400"/>
            </a:avLst>
          </a:prstGeom>
          <a:solidFill>
            <a:srgbClr val="D6E6FB"/>
          </a:solidFill>
          <a:ln w="12700">
            <a:solidFill>
              <a:srgbClr val="8FB2EA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998977" y="1618754"/>
            <a:ext cx="2559381" cy="641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10,000,000 elements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8"/>
          <p:cNvSpPr/>
          <p:nvPr/>
        </p:nvSpPr>
        <p:spPr>
          <a:xfrm>
            <a:off x="9275022" y="2260422"/>
            <a:ext cx="0" cy="255209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277100" y="2515631"/>
            <a:ext cx="4017718" cy="0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280746" y="2515631"/>
            <a:ext cx="0" cy="313542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46" name="Shape 41"/>
          <p:cNvSpPr/>
          <p:nvPr/>
        </p:nvSpPr>
        <p:spPr>
          <a:xfrm>
            <a:off x="6766683" y="2836465"/>
            <a:ext cx="1028127" cy="991669"/>
          </a:xfrm>
          <a:prstGeom prst="roundRect">
            <a:avLst>
              <a:gd name="adj" fmla="val 7377"/>
            </a:avLst>
          </a:prstGeom>
          <a:solidFill>
            <a:srgbClr val="E6F0FD"/>
          </a:solidFill>
          <a:ln w="12700">
            <a:solidFill>
              <a:srgbClr val="8FB2EA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773974" y="2843757"/>
            <a:ext cx="1013544" cy="481251"/>
          </a:xfrm>
          <a:prstGeom prst="roundRect">
            <a:avLst>
              <a:gd name="adj" fmla="val 15200"/>
            </a:avLst>
          </a:prstGeom>
          <a:solidFill>
            <a:srgbClr val="D1E3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773974" y="3135424"/>
            <a:ext cx="1013544" cy="189584"/>
          </a:xfrm>
          <a:prstGeom prst="rect">
            <a:avLst/>
          </a:prstGeom>
          <a:solidFill>
            <a:srgbClr val="D1E3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6766683" y="2836465"/>
            <a:ext cx="1028127" cy="4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5"/>
          <p:cNvSpPr txBox="1"/>
          <p:nvPr/>
        </p:nvSpPr>
        <p:spPr>
          <a:xfrm>
            <a:off x="6766683" y="3325008"/>
            <a:ext cx="1028127" cy="503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Sum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chunk 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6"/>
          <p:cNvSpPr/>
          <p:nvPr/>
        </p:nvSpPr>
        <p:spPr>
          <a:xfrm>
            <a:off x="7280746" y="3828134"/>
            <a:ext cx="0" cy="255209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8418249" y="2515631"/>
            <a:ext cx="0" cy="313542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53" name="Shape 48"/>
          <p:cNvSpPr/>
          <p:nvPr/>
        </p:nvSpPr>
        <p:spPr>
          <a:xfrm>
            <a:off x="7904185" y="2836465"/>
            <a:ext cx="1028127" cy="991669"/>
          </a:xfrm>
          <a:prstGeom prst="roundRect">
            <a:avLst>
              <a:gd name="adj" fmla="val 7377"/>
            </a:avLst>
          </a:prstGeom>
          <a:solidFill>
            <a:srgbClr val="E4F4EA"/>
          </a:solidFill>
          <a:ln w="12700">
            <a:solidFill>
              <a:srgbClr val="9FD4B8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7911477" y="2843757"/>
            <a:ext cx="1013544" cy="481251"/>
          </a:xfrm>
          <a:prstGeom prst="roundRect">
            <a:avLst>
              <a:gd name="adj" fmla="val 15200"/>
            </a:avLst>
          </a:prstGeom>
          <a:solidFill>
            <a:srgbClr val="CDEBDA"/>
          </a:solidFill>
          <a:ln w="12700">
            <a:solidFill>
              <a:srgbClr val="CDEBDA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7911477" y="3135424"/>
            <a:ext cx="1013544" cy="189584"/>
          </a:xfrm>
          <a:prstGeom prst="rect">
            <a:avLst/>
          </a:prstGeom>
          <a:solidFill>
            <a:srgbClr val="CDEBDA"/>
          </a:solidFill>
          <a:ln w="12700">
            <a:solidFill>
              <a:srgbClr val="CDEBDA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7904185" y="2836465"/>
            <a:ext cx="1028127" cy="4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2"/>
          <p:cNvSpPr txBox="1"/>
          <p:nvPr/>
        </p:nvSpPr>
        <p:spPr>
          <a:xfrm>
            <a:off x="7904185" y="3325008"/>
            <a:ext cx="1028127" cy="503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Sum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chunk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3"/>
          <p:cNvSpPr/>
          <p:nvPr/>
        </p:nvSpPr>
        <p:spPr>
          <a:xfrm>
            <a:off x="8418249" y="3828134"/>
            <a:ext cx="0" cy="255209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9555752" y="2515631"/>
            <a:ext cx="0" cy="313542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60" name="Shape 55"/>
          <p:cNvSpPr/>
          <p:nvPr/>
        </p:nvSpPr>
        <p:spPr>
          <a:xfrm>
            <a:off x="9041688" y="2836465"/>
            <a:ext cx="1028127" cy="991669"/>
          </a:xfrm>
          <a:prstGeom prst="roundRect">
            <a:avLst>
              <a:gd name="adj" fmla="val 7377"/>
            </a:avLst>
          </a:prstGeom>
          <a:solidFill>
            <a:srgbClr val="FEF0DA"/>
          </a:solidFill>
          <a:ln w="12700">
            <a:solidFill>
              <a:srgbClr val="F3C98B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9048980" y="2843757"/>
            <a:ext cx="1013544" cy="481251"/>
          </a:xfrm>
          <a:prstGeom prst="roundRect">
            <a:avLst>
              <a:gd name="adj" fmla="val 15200"/>
            </a:avLst>
          </a:prstGeom>
          <a:solidFill>
            <a:srgbClr val="FBDDB0"/>
          </a:solidFill>
          <a:ln w="12700">
            <a:solidFill>
              <a:srgbClr val="FBDDB0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9048980" y="3135424"/>
            <a:ext cx="1013544" cy="189584"/>
          </a:xfrm>
          <a:prstGeom prst="rect">
            <a:avLst/>
          </a:prstGeom>
          <a:solidFill>
            <a:srgbClr val="FBDDB0"/>
          </a:solidFill>
          <a:ln w="12700">
            <a:solidFill>
              <a:srgbClr val="FBDDB0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9041688" y="2836465"/>
            <a:ext cx="1028127" cy="4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59"/>
          <p:cNvSpPr txBox="1"/>
          <p:nvPr/>
        </p:nvSpPr>
        <p:spPr>
          <a:xfrm>
            <a:off x="9041688" y="3325008"/>
            <a:ext cx="1028127" cy="503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Sum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chunk 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0"/>
          <p:cNvSpPr/>
          <p:nvPr/>
        </p:nvSpPr>
        <p:spPr>
          <a:xfrm>
            <a:off x="9555752" y="3828134"/>
            <a:ext cx="0" cy="255209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1291172" y="2515631"/>
            <a:ext cx="0" cy="313542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67" name="Shape 62"/>
          <p:cNvSpPr/>
          <p:nvPr/>
        </p:nvSpPr>
        <p:spPr>
          <a:xfrm>
            <a:off x="10777109" y="2836465"/>
            <a:ext cx="1028127" cy="991669"/>
          </a:xfrm>
          <a:prstGeom prst="roundRect">
            <a:avLst>
              <a:gd name="adj" fmla="val 7377"/>
            </a:avLst>
          </a:prstGeom>
          <a:solidFill>
            <a:srgbClr val="ECE9FB"/>
          </a:solidFill>
          <a:ln w="12700">
            <a:solidFill>
              <a:srgbClr val="C2B8F0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0784400" y="2843757"/>
            <a:ext cx="1013544" cy="481251"/>
          </a:xfrm>
          <a:prstGeom prst="roundRect">
            <a:avLst>
              <a:gd name="adj" fmla="val 15200"/>
            </a:avLst>
          </a:prstGeom>
          <a:solidFill>
            <a:srgbClr val="DCD6F7"/>
          </a:solidFill>
          <a:ln w="12700">
            <a:solidFill>
              <a:srgbClr val="DCD6F7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0784400" y="3135424"/>
            <a:ext cx="1013544" cy="189584"/>
          </a:xfrm>
          <a:prstGeom prst="rect">
            <a:avLst/>
          </a:prstGeom>
          <a:solidFill>
            <a:srgbClr val="DCD6F7"/>
          </a:solidFill>
          <a:ln w="12700">
            <a:solidFill>
              <a:srgbClr val="DCD6F7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10777109" y="2836465"/>
            <a:ext cx="1028127" cy="4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 N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6"/>
          <p:cNvSpPr txBox="1"/>
          <p:nvPr/>
        </p:nvSpPr>
        <p:spPr>
          <a:xfrm>
            <a:off x="10777109" y="3325008"/>
            <a:ext cx="1028127" cy="503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Sum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2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chunk 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67"/>
          <p:cNvSpPr/>
          <p:nvPr/>
        </p:nvSpPr>
        <p:spPr>
          <a:xfrm>
            <a:off x="11291172" y="3828134"/>
            <a:ext cx="0" cy="255209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10244816" y="3273966"/>
            <a:ext cx="72917" cy="72917"/>
          </a:xfrm>
          <a:prstGeom prst="ellipse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10390649" y="3273966"/>
            <a:ext cx="72917" cy="72917"/>
          </a:xfrm>
          <a:prstGeom prst="ellipse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10536483" y="3273966"/>
            <a:ext cx="72917" cy="72917"/>
          </a:xfrm>
          <a:prstGeom prst="ellipse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7277100" y="4083343"/>
            <a:ext cx="4017718" cy="0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9275022" y="4083343"/>
            <a:ext cx="0" cy="277084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78" name="Shape 73"/>
          <p:cNvSpPr/>
          <p:nvPr/>
        </p:nvSpPr>
        <p:spPr>
          <a:xfrm>
            <a:off x="7743768" y="4367719"/>
            <a:ext cx="3055215" cy="692710"/>
          </a:xfrm>
          <a:prstGeom prst="roundRect">
            <a:avLst>
              <a:gd name="adj" fmla="val 10560"/>
            </a:avLst>
          </a:prstGeom>
          <a:solidFill>
            <a:srgbClr val="D6E6FB"/>
          </a:solidFill>
          <a:ln w="12700">
            <a:solidFill>
              <a:srgbClr val="8FB2EA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7743768" y="4367719"/>
            <a:ext cx="3055215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Combine Partial Sums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Sum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75"/>
          <p:cNvSpPr/>
          <p:nvPr/>
        </p:nvSpPr>
        <p:spPr>
          <a:xfrm>
            <a:off x="9275022" y="5060429"/>
            <a:ext cx="0" cy="386459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81" name="Shape 76"/>
          <p:cNvSpPr/>
          <p:nvPr/>
        </p:nvSpPr>
        <p:spPr>
          <a:xfrm>
            <a:off x="7525018" y="5454179"/>
            <a:ext cx="3521883" cy="721877"/>
          </a:xfrm>
          <a:prstGeom prst="roundRect">
            <a:avLst>
              <a:gd name="adj" fmla="val 10134"/>
            </a:avLst>
          </a:prstGeom>
          <a:solidFill>
            <a:srgbClr val="FDE3E8"/>
          </a:solidFill>
          <a:ln w="12700">
            <a:solidFill>
              <a:srgbClr val="F5A8B8"/>
            </a:solidFill>
            <a:prstDash val="solid"/>
          </a:ln>
        </p:spPr>
      </p:sp>
      <p:sp>
        <p:nvSpPr>
          <p:cNvPr id="82" name="Text 77"/>
          <p:cNvSpPr txBox="1"/>
          <p:nvPr/>
        </p:nvSpPr>
        <p:spPr>
          <a:xfrm>
            <a:off x="7525018" y="5454179"/>
            <a:ext cx="3521883" cy="72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Compute Average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Average = Sum / Dataset Size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2710"/>
          </a:xfrm>
          <a:prstGeom prst="rect">
            <a:avLst/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3753" y="0"/>
            <a:ext cx="6489599" cy="692710"/>
          </a:xfrm>
          <a:prstGeom prst="rect">
            <a:avLst/>
          </a:prstGeom>
          <a:solidFill>
            <a:srgbClr val="D6E6FB"/>
          </a:solidFill>
          <a:ln w="12700">
            <a:solidFill>
              <a:srgbClr val="D6E6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03128" cy="692710"/>
          </a:xfrm>
          <a:prstGeom prst="homePlate">
            <a:avLst/>
          </a:prstGeom>
          <a:solidFill>
            <a:srgbClr val="1B5BA8"/>
          </a:solidFill>
          <a:ln w="12700">
            <a:solidFill>
              <a:srgbClr val="1B5B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0"/>
            <a:ext cx="1057294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451045" y="0"/>
            <a:ext cx="5833347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Approach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03144" y="262501"/>
            <a:ext cx="2479172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3B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GPU and Computing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696900" y="357293"/>
            <a:ext cx="1217711" cy="21875"/>
          </a:xfrm>
          <a:prstGeom prst="rect">
            <a:avLst/>
          </a:prstGeom>
          <a:solidFill>
            <a:srgbClr val="0B3A8A"/>
          </a:solidFill>
          <a:ln w="12700">
            <a:solidFill>
              <a:srgbClr val="0B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27111" y="277084"/>
            <a:ext cx="175000" cy="175000"/>
          </a:xfrm>
          <a:prstGeom prst="ellipse">
            <a:avLst/>
          </a:prstGeom>
          <a:solidFill>
            <a:srgbClr val="0B3A8A"/>
          </a:solidFill>
          <a:ln w="12700">
            <a:solidFill>
              <a:srgbClr val="0B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417" y="853127"/>
            <a:ext cx="4703136" cy="5702097"/>
          </a:xfrm>
          <a:prstGeom prst="roundRect">
            <a:avLst>
              <a:gd name="adj" fmla="val 778"/>
            </a:avLst>
          </a:prstGeom>
          <a:solidFill>
            <a:srgbClr val="FDF0F1"/>
          </a:solidFill>
          <a:ln w="12700">
            <a:solidFill>
              <a:srgbClr val="FDF0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501" y="911460"/>
            <a:ext cx="4477094" cy="510418"/>
          </a:xfrm>
          <a:prstGeom prst="roundRect">
            <a:avLst>
              <a:gd name="adj" fmla="val 21498"/>
            </a:avLst>
          </a:prstGeom>
          <a:solidFill>
            <a:srgbClr val="FBDDE0"/>
          </a:solidFill>
          <a:ln w="12700">
            <a:solidFill>
              <a:srgbClr val="FBDD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4585" y="911460"/>
            <a:ext cx="4083343" cy="510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Computation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97930" y="853127"/>
            <a:ext cx="6372932" cy="5702097"/>
          </a:xfrm>
          <a:prstGeom prst="roundRect">
            <a:avLst>
              <a:gd name="adj" fmla="val 641"/>
            </a:avLst>
          </a:prstGeom>
          <a:solidFill>
            <a:srgbClr val="EEF8F2"/>
          </a:solidFill>
          <a:ln w="12700">
            <a:solidFill>
              <a:srgbClr val="EEF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97930" y="853127"/>
            <a:ext cx="6372932" cy="495834"/>
          </a:xfrm>
          <a:prstGeom prst="roundRect">
            <a:avLst>
              <a:gd name="adj" fmla="val 22130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5222" y="853127"/>
            <a:ext cx="5833347" cy="49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Computation (OpenMP)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35429" y="853127"/>
            <a:ext cx="14583" cy="5702097"/>
          </a:xfrm>
          <a:prstGeom prst="rect">
            <a:avLst/>
          </a:prstGeom>
          <a:solidFill>
            <a:srgbClr val="D5DBE8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668" y="1684379"/>
            <a:ext cx="102084" cy="102084"/>
          </a:xfrm>
          <a:prstGeom prst="ellipse">
            <a:avLst/>
          </a:prstGeom>
          <a:solidFill>
            <a:srgbClr val="F07070"/>
          </a:solidFill>
          <a:ln w="12700">
            <a:solidFill>
              <a:srgbClr val="F070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752" y="1589587"/>
            <a:ext cx="3937509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Process elements one by one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1668" y="2005213"/>
            <a:ext cx="102084" cy="102084"/>
          </a:xfrm>
          <a:prstGeom prst="ellipse">
            <a:avLst/>
          </a:prstGeom>
          <a:solidFill>
            <a:srgbClr val="F07070"/>
          </a:solidFill>
          <a:ln w="12700">
            <a:solidFill>
              <a:srgbClr val="F070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752" y="1910421"/>
            <a:ext cx="3937509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Single thread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1668" y="2326047"/>
            <a:ext cx="102084" cy="102084"/>
          </a:xfrm>
          <a:prstGeom prst="ellipse">
            <a:avLst/>
          </a:prstGeom>
          <a:solidFill>
            <a:srgbClr val="F07070"/>
          </a:solidFill>
          <a:ln w="12700">
            <a:solidFill>
              <a:srgbClr val="F070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8752" y="2231255"/>
            <a:ext cx="3937509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Compute running sum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1668" y="2646881"/>
            <a:ext cx="102084" cy="102084"/>
          </a:xfrm>
          <a:prstGeom prst="ellipse">
            <a:avLst/>
          </a:prstGeom>
          <a:solidFill>
            <a:srgbClr val="F07070"/>
          </a:solidFill>
          <a:ln w="12700">
            <a:solidFill>
              <a:srgbClr val="F0707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752" y="2552089"/>
            <a:ext cx="3937509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Higher execution time for large datasets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96889" y="1523962"/>
            <a:ext cx="102084" cy="102084"/>
          </a:xfrm>
          <a:prstGeom prst="ellipse">
            <a:avLst/>
          </a:prstGeom>
          <a:solidFill>
            <a:srgbClr val="1B7A55"/>
          </a:solidFill>
          <a:ln w="12700">
            <a:solidFill>
              <a:srgbClr val="1B7A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73973" y="1429170"/>
            <a:ext cx="5541680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divided among multiple threads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796889" y="1806515"/>
            <a:ext cx="102084" cy="102084"/>
          </a:xfrm>
          <a:prstGeom prst="ellipse">
            <a:avLst/>
          </a:prstGeom>
          <a:solidFill>
            <a:srgbClr val="1B7A55"/>
          </a:solidFill>
          <a:ln w="12700">
            <a:solidFill>
              <a:srgbClr val="1B7A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73973" y="1711723"/>
            <a:ext cx="5541680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computes a partial sum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96889" y="2089067"/>
            <a:ext cx="102084" cy="102084"/>
          </a:xfrm>
          <a:prstGeom prst="ellipse">
            <a:avLst/>
          </a:prstGeom>
          <a:solidFill>
            <a:srgbClr val="1B7A55"/>
          </a:solidFill>
          <a:ln w="12700">
            <a:solidFill>
              <a:srgbClr val="1B7A5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73973" y="1994276"/>
            <a:ext cx="5541680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sums are combined using reduction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96889" y="2371620"/>
            <a:ext cx="102084" cy="102084"/>
          </a:xfrm>
          <a:prstGeom prst="ellipse">
            <a:avLst/>
          </a:prstGeom>
          <a:solidFill>
            <a:srgbClr val="1B7A55"/>
          </a:solidFill>
          <a:ln w="12700">
            <a:solidFill>
              <a:srgbClr val="1B7A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73973" y="2276828"/>
            <a:ext cx="5541680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Average = Sum / Dataset Size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796889" y="2654173"/>
            <a:ext cx="102084" cy="102084"/>
          </a:xfrm>
          <a:prstGeom prst="ellipse">
            <a:avLst/>
          </a:prstGeom>
          <a:solidFill>
            <a:srgbClr val="1B7A55"/>
          </a:solidFill>
          <a:ln w="12700">
            <a:solidFill>
              <a:srgbClr val="1B7A5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73973" y="2559381"/>
            <a:ext cx="5541680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multithreading (OpenMP)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538545" y="3215633"/>
            <a:ext cx="2289589" cy="729168"/>
          </a:xfrm>
          <a:prstGeom prst="roundRect">
            <a:avLst>
              <a:gd name="adj" fmla="val 10032"/>
            </a:avLst>
          </a:prstGeom>
          <a:solidFill>
            <a:srgbClr val="D6E6FB"/>
          </a:solidFill>
          <a:ln w="12700">
            <a:solidFill>
              <a:srgbClr val="8FB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38545" y="3215633"/>
            <a:ext cx="2289589" cy="72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(N elements)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683340" y="3944801"/>
            <a:ext cx="0" cy="386459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9794" y="4338552"/>
            <a:ext cx="3427091" cy="721877"/>
          </a:xfrm>
          <a:prstGeom prst="roundRect">
            <a:avLst>
              <a:gd name="adj" fmla="val 10134"/>
            </a:avLst>
          </a:prstGeom>
          <a:solidFill>
            <a:srgbClr val="FDE0E6"/>
          </a:solidFill>
          <a:ln w="12700">
            <a:solidFill>
              <a:srgbClr val="F5A8B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9794" y="4338552"/>
            <a:ext cx="3427091" cy="72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Process element i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sum = sum + data[i]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683340" y="5060429"/>
            <a:ext cx="0" cy="408334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195836" y="5476054"/>
            <a:ext cx="2975007" cy="721877"/>
          </a:xfrm>
          <a:prstGeom prst="roundRect">
            <a:avLst>
              <a:gd name="adj" fmla="val 10134"/>
            </a:avLst>
          </a:prstGeom>
          <a:solidFill>
            <a:srgbClr val="E6E0F8"/>
          </a:solidFill>
          <a:ln w="12700">
            <a:solidFill>
              <a:srgbClr val="C2B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95836" y="5476054"/>
            <a:ext cx="2975007" cy="72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Compute Average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avg = sum / N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212515" y="2982299"/>
            <a:ext cx="5053137" cy="452084"/>
          </a:xfrm>
          <a:prstGeom prst="roundRect">
            <a:avLst>
              <a:gd name="adj" fmla="val 16181"/>
            </a:avLst>
          </a:prstGeom>
          <a:solidFill>
            <a:srgbClr val="D6E6FB"/>
          </a:solidFill>
          <a:ln w="12700">
            <a:solidFill>
              <a:srgbClr val="8FB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12515" y="2982299"/>
            <a:ext cx="5053137" cy="45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(N elements)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757312" y="3434383"/>
            <a:ext cx="0" cy="131250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9181" y="3565633"/>
            <a:ext cx="4586469" cy="0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9181" y="3565633"/>
            <a:ext cx="0" cy="20416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775014" y="3777092"/>
            <a:ext cx="1115628" cy="802085"/>
          </a:xfrm>
          <a:prstGeom prst="roundRect">
            <a:avLst>
              <a:gd name="adj" fmla="val 9120"/>
            </a:avLst>
          </a:prstGeom>
          <a:solidFill>
            <a:srgbClr val="E6F0FD"/>
          </a:solidFill>
          <a:ln w="12700">
            <a:solidFill>
              <a:srgbClr val="8FB2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82305" y="3784384"/>
            <a:ext cx="1101044" cy="320834"/>
          </a:xfrm>
          <a:prstGeom prst="roundRect">
            <a:avLst>
              <a:gd name="adj" fmla="val 22801"/>
            </a:avLst>
          </a:prstGeom>
          <a:solidFill>
            <a:srgbClr val="D1E3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82305" y="3937509"/>
            <a:ext cx="1101044" cy="167709"/>
          </a:xfrm>
          <a:prstGeom prst="rect">
            <a:avLst/>
          </a:prstGeom>
          <a:solidFill>
            <a:srgbClr val="D1E3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775014" y="3777092"/>
            <a:ext cx="1115628" cy="328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5775014" y="4105218"/>
            <a:ext cx="1115628" cy="47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Sum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(chunk 1)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329181" y="4579177"/>
            <a:ext cx="0" cy="16041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61476" y="3565633"/>
            <a:ext cx="0" cy="20416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007308" y="3777092"/>
            <a:ext cx="1115628" cy="802085"/>
          </a:xfrm>
          <a:prstGeom prst="roundRect">
            <a:avLst>
              <a:gd name="adj" fmla="val 9120"/>
            </a:avLst>
          </a:prstGeom>
          <a:solidFill>
            <a:srgbClr val="E4F4EA"/>
          </a:solidFill>
          <a:ln w="12700">
            <a:solidFill>
              <a:srgbClr val="9FD4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14600" y="3784384"/>
            <a:ext cx="1101044" cy="320834"/>
          </a:xfrm>
          <a:prstGeom prst="roundRect">
            <a:avLst>
              <a:gd name="adj" fmla="val 22801"/>
            </a:avLst>
          </a:prstGeom>
          <a:solidFill>
            <a:srgbClr val="CDEBDA"/>
          </a:solidFill>
          <a:ln w="12700">
            <a:solidFill>
              <a:srgbClr val="CDEB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14600" y="3937509"/>
            <a:ext cx="1101044" cy="167709"/>
          </a:xfrm>
          <a:prstGeom prst="rect">
            <a:avLst/>
          </a:prstGeom>
          <a:solidFill>
            <a:srgbClr val="CDEBDA"/>
          </a:solidFill>
          <a:ln w="12700">
            <a:solidFill>
              <a:srgbClr val="CDEBD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007308" y="3777092"/>
            <a:ext cx="1115628" cy="328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7007308" y="4105218"/>
            <a:ext cx="1115628" cy="47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Sum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(chunk 2)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561476" y="4579177"/>
            <a:ext cx="0" cy="16041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57312" y="3565633"/>
            <a:ext cx="0" cy="20416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239603" y="3777092"/>
            <a:ext cx="1195836" cy="802085"/>
          </a:xfrm>
          <a:prstGeom prst="roundRect">
            <a:avLst>
              <a:gd name="adj" fmla="val 9120"/>
            </a:avLst>
          </a:prstGeom>
          <a:solidFill>
            <a:srgbClr val="FEF0DA"/>
          </a:solidFill>
          <a:ln w="12700">
            <a:solidFill>
              <a:srgbClr val="F3C98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46894" y="3784384"/>
            <a:ext cx="1181253" cy="320834"/>
          </a:xfrm>
          <a:prstGeom prst="roundRect">
            <a:avLst>
              <a:gd name="adj" fmla="val 22801"/>
            </a:avLst>
          </a:prstGeom>
          <a:solidFill>
            <a:srgbClr val="FBDDB0"/>
          </a:solidFill>
          <a:ln w="12700">
            <a:solidFill>
              <a:srgbClr val="FBDD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46894" y="3937509"/>
            <a:ext cx="1181253" cy="167709"/>
          </a:xfrm>
          <a:prstGeom prst="rect">
            <a:avLst/>
          </a:prstGeom>
          <a:solidFill>
            <a:srgbClr val="FBDDB0"/>
          </a:solidFill>
          <a:ln w="12700">
            <a:solidFill>
              <a:srgbClr val="FBDDB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239603" y="3777092"/>
            <a:ext cx="1195836" cy="328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8239603" y="4105218"/>
            <a:ext cx="1195836" cy="47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Sum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(chunk 3)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837521" y="4579177"/>
            <a:ext cx="0" cy="16041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15651" y="3565633"/>
            <a:ext cx="0" cy="20416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10361483" y="3777092"/>
            <a:ext cx="1276045" cy="802085"/>
          </a:xfrm>
          <a:prstGeom prst="roundRect">
            <a:avLst>
              <a:gd name="adj" fmla="val 9120"/>
            </a:avLst>
          </a:prstGeom>
          <a:solidFill>
            <a:srgbClr val="ECE9FB"/>
          </a:solidFill>
          <a:ln w="12700">
            <a:solidFill>
              <a:srgbClr val="C2B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68774" y="3784384"/>
            <a:ext cx="1261461" cy="320834"/>
          </a:xfrm>
          <a:prstGeom prst="roundRect">
            <a:avLst>
              <a:gd name="adj" fmla="val 22801"/>
            </a:avLst>
          </a:prstGeom>
          <a:solidFill>
            <a:srgbClr val="DCD6F7"/>
          </a:solidFill>
          <a:ln w="12700">
            <a:solidFill>
              <a:srgbClr val="DCD6F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68774" y="3937509"/>
            <a:ext cx="1261461" cy="167709"/>
          </a:xfrm>
          <a:prstGeom prst="rect">
            <a:avLst/>
          </a:prstGeom>
          <a:solidFill>
            <a:srgbClr val="DCD6F7"/>
          </a:solidFill>
          <a:ln w="12700">
            <a:solidFill>
              <a:srgbClr val="DCD6F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361483" y="3777092"/>
            <a:ext cx="1276045" cy="328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 N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10361483" y="4105218"/>
            <a:ext cx="1276045" cy="47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Partial Sum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(chunk N)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0995859" y="4579177"/>
            <a:ext cx="0" cy="16041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19814" y="4141676"/>
            <a:ext cx="72917" cy="72917"/>
          </a:xfrm>
          <a:prstGeom prst="ellipse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58356" y="4141676"/>
            <a:ext cx="72917" cy="72917"/>
          </a:xfrm>
          <a:prstGeom prst="ellipse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996898" y="4141676"/>
            <a:ext cx="72917" cy="72917"/>
          </a:xfrm>
          <a:prstGeom prst="ellipse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29181" y="4739594"/>
            <a:ext cx="4666678" cy="0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757312" y="4739594"/>
            <a:ext cx="0" cy="16041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123975" y="4907303"/>
            <a:ext cx="3244799" cy="590626"/>
          </a:xfrm>
          <a:prstGeom prst="roundRect">
            <a:avLst>
              <a:gd name="adj" fmla="val 12386"/>
            </a:avLst>
          </a:prstGeom>
          <a:solidFill>
            <a:srgbClr val="FDE0E6"/>
          </a:solidFill>
          <a:ln w="12700">
            <a:solidFill>
              <a:srgbClr val="F5A8B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123975" y="4907303"/>
            <a:ext cx="3244799" cy="590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Combine Partial Sums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Sum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8757312" y="5497930"/>
            <a:ext cx="0" cy="277084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7350017" y="5782305"/>
            <a:ext cx="2800007" cy="634376"/>
          </a:xfrm>
          <a:prstGeom prst="roundRect">
            <a:avLst>
              <a:gd name="adj" fmla="val 11531"/>
            </a:avLst>
          </a:prstGeom>
          <a:solidFill>
            <a:srgbClr val="E6E0F8"/>
          </a:solidFill>
          <a:ln w="12700">
            <a:solidFill>
              <a:srgbClr val="C2B8F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350017" y="5782305"/>
            <a:ext cx="2800007" cy="63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Compute Average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avg = sum / 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2710"/>
          </a:xfrm>
          <a:prstGeom prst="rect">
            <a:avLst/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3753" y="0"/>
            <a:ext cx="6489599" cy="692710"/>
          </a:xfrm>
          <a:prstGeom prst="rect">
            <a:avLst/>
          </a:prstGeom>
          <a:solidFill>
            <a:srgbClr val="D6E6FB"/>
          </a:solidFill>
          <a:ln w="12700">
            <a:solidFill>
              <a:srgbClr val="D6E6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03128" cy="692710"/>
          </a:xfrm>
          <a:prstGeom prst="homePlate">
            <a:avLst/>
          </a:prstGeom>
          <a:solidFill>
            <a:srgbClr val="1B5BA8"/>
          </a:solidFill>
          <a:ln w="12700">
            <a:solidFill>
              <a:srgbClr val="1B5B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0"/>
            <a:ext cx="1057294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487503" y="0"/>
            <a:ext cx="5833347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436478" y="240626"/>
            <a:ext cx="2479172" cy="2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3B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GPU and Computing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864609" y="335417"/>
            <a:ext cx="1050002" cy="21875"/>
          </a:xfrm>
          <a:prstGeom prst="rect">
            <a:avLst/>
          </a:prstGeom>
          <a:solidFill>
            <a:srgbClr val="0B3A8A"/>
          </a:solidFill>
          <a:ln w="12700">
            <a:solidFill>
              <a:srgbClr val="0B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27111" y="255209"/>
            <a:ext cx="175000" cy="175000"/>
          </a:xfrm>
          <a:prstGeom prst="ellipse">
            <a:avLst/>
          </a:prstGeom>
          <a:solidFill>
            <a:srgbClr val="0B3A8A"/>
          </a:solidFill>
          <a:ln w="12700">
            <a:solidFill>
              <a:srgbClr val="0B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834" y="823960"/>
            <a:ext cx="5738555" cy="3901051"/>
          </a:xfrm>
          <a:prstGeom prst="roundRect">
            <a:avLst>
              <a:gd name="adj" fmla="val 938"/>
            </a:avLst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501" y="904169"/>
            <a:ext cx="5497930" cy="481251"/>
          </a:xfrm>
          <a:prstGeom prst="roundRect">
            <a:avLst>
              <a:gd name="adj" fmla="val 22801"/>
            </a:avLst>
          </a:prstGeom>
          <a:solidFill>
            <a:srgbClr val="D6E6FB"/>
          </a:solidFill>
          <a:ln w="12700">
            <a:solidFill>
              <a:srgbClr val="D6E6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7918" y="904169"/>
            <a:ext cx="5250012" cy="4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Configuration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7501" y="1436462"/>
            <a:ext cx="5461471" cy="386459"/>
          </a:xfrm>
          <a:prstGeom prst="rect">
            <a:avLst/>
          </a:prstGeom>
          <a:solidFill>
            <a:srgbClr val="CFE0F8"/>
          </a:solidFill>
          <a:ln w="12700">
            <a:solidFill>
              <a:srgbClr val="B9C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7091" y="1436462"/>
            <a:ext cx="7292" cy="386459"/>
          </a:xfrm>
          <a:prstGeom prst="rect">
            <a:avLst/>
          </a:prstGeom>
          <a:solidFill>
            <a:srgbClr val="B9CCEA"/>
          </a:solidFill>
          <a:ln w="12700">
            <a:solidFill>
              <a:srgbClr val="B9CC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960" y="1436462"/>
            <a:ext cx="2187505" cy="386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368758" y="1436462"/>
            <a:ext cx="2187505" cy="386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7501" y="1822921"/>
            <a:ext cx="5461471" cy="39156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7091" y="1822921"/>
            <a:ext cx="7292" cy="391563"/>
          </a:xfrm>
          <a:prstGeom prst="rect">
            <a:avLst/>
          </a:prstGeom>
          <a:solidFill>
            <a:srgbClr val="D5DBE8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960" y="1822921"/>
            <a:ext cx="2333339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368758" y="1822921"/>
            <a:ext cx="2479172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7501" y="2214484"/>
            <a:ext cx="5461471" cy="391563"/>
          </a:xfrm>
          <a:prstGeom prst="rect">
            <a:avLst/>
          </a:prstGeom>
          <a:solidFill>
            <a:srgbClr val="F4F6FA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77091" y="2214484"/>
            <a:ext cx="7292" cy="391563"/>
          </a:xfrm>
          <a:prstGeom prst="rect">
            <a:avLst/>
          </a:prstGeom>
          <a:solidFill>
            <a:srgbClr val="D5DBE8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960" y="2214484"/>
            <a:ext cx="2333339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Framework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3368758" y="2214484"/>
            <a:ext cx="2479172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7501" y="2606048"/>
            <a:ext cx="5461471" cy="39156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77091" y="2606048"/>
            <a:ext cx="7292" cy="391563"/>
          </a:xfrm>
          <a:prstGeom prst="rect">
            <a:avLst/>
          </a:prstGeom>
          <a:solidFill>
            <a:srgbClr val="D5DBE8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8960" y="2606048"/>
            <a:ext cx="2333339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368758" y="2606048"/>
            <a:ext cx="2479172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7501" y="2997611"/>
            <a:ext cx="5461471" cy="391563"/>
          </a:xfrm>
          <a:prstGeom prst="rect">
            <a:avLst/>
          </a:prstGeom>
          <a:solidFill>
            <a:srgbClr val="F4F6FA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77091" y="2997611"/>
            <a:ext cx="7292" cy="391563"/>
          </a:xfrm>
          <a:prstGeom prst="rect">
            <a:avLst/>
          </a:prstGeom>
          <a:solidFill>
            <a:srgbClr val="D5DBE8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8960" y="2997611"/>
            <a:ext cx="2333339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Compiler Flags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3368758" y="2997611"/>
            <a:ext cx="2479172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-O2 -fopenmp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7501" y="3389175"/>
            <a:ext cx="5461471" cy="39156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77091" y="3389175"/>
            <a:ext cx="7292" cy="391563"/>
          </a:xfrm>
          <a:prstGeom prst="rect">
            <a:avLst/>
          </a:prstGeom>
          <a:solidFill>
            <a:srgbClr val="D5DBE8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8960" y="3389175"/>
            <a:ext cx="2333339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3368758" y="3389175"/>
            <a:ext cx="2479172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10,000,000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elements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37501" y="3780738"/>
            <a:ext cx="5461471" cy="391563"/>
          </a:xfrm>
          <a:prstGeom prst="rect">
            <a:avLst/>
          </a:prstGeom>
          <a:solidFill>
            <a:srgbClr val="F4F6FA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77091" y="3780738"/>
            <a:ext cx="7292" cy="391563"/>
          </a:xfrm>
          <a:prstGeom prst="rect">
            <a:avLst/>
          </a:prstGeom>
          <a:solidFill>
            <a:srgbClr val="D5DBE8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8960" y="3780738"/>
            <a:ext cx="2333339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Available Processors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3368758" y="3780738"/>
            <a:ext cx="2479172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(logical processors)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37501" y="4172301"/>
            <a:ext cx="5461471" cy="39156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77091" y="4172301"/>
            <a:ext cx="7292" cy="391563"/>
          </a:xfrm>
          <a:prstGeom prst="rect">
            <a:avLst/>
          </a:prstGeom>
          <a:solidFill>
            <a:srgbClr val="D5DBE8"/>
          </a:solidFill>
          <a:ln w="12700">
            <a:solidFill>
              <a:srgbClr val="D5DB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8960" y="4172301"/>
            <a:ext cx="2333339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Threads Tested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3368758" y="4172301"/>
            <a:ext cx="2479172" cy="39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1, 2, 4, 8, 12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20834" y="4827095"/>
            <a:ext cx="5738555" cy="1815629"/>
          </a:xfrm>
          <a:prstGeom prst="roundRect">
            <a:avLst>
              <a:gd name="adj" fmla="val 2015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7501" y="4907303"/>
            <a:ext cx="5497930" cy="466668"/>
          </a:xfrm>
          <a:prstGeom prst="roundRect">
            <a:avLst>
              <a:gd name="adj" fmla="val 23513"/>
            </a:avLst>
          </a:prstGeom>
          <a:solidFill>
            <a:srgbClr val="D5EBDD"/>
          </a:solidFill>
          <a:ln w="12700">
            <a:solidFill>
              <a:srgbClr val="D5EB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8127" y="4907303"/>
            <a:ext cx="3645842" cy="46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39585" y="5505221"/>
            <a:ext cx="831252" cy="831252"/>
          </a:xfrm>
          <a:prstGeom prst="ellipse">
            <a:avLst/>
          </a:prstGeom>
          <a:solidFill>
            <a:srgbClr val="D2EBDD"/>
          </a:solidFill>
          <a:ln w="12700">
            <a:solidFill>
              <a:srgbClr val="D2EBDD"/>
            </a:solidFill>
            <a:prstDash val="solid"/>
          </a:ln>
        </p:spPr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52" y="5709388"/>
            <a:ext cx="422918" cy="422918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1881254" y="5621888"/>
            <a:ext cx="102084" cy="102084"/>
          </a:xfrm>
          <a:prstGeom prst="ellipse">
            <a:avLst/>
          </a:prstGeom>
          <a:solidFill>
            <a:srgbClr val="0F6B4B"/>
          </a:solidFill>
          <a:ln w="12700">
            <a:solidFill>
              <a:srgbClr val="0F6B4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881254" y="5913556"/>
            <a:ext cx="102084" cy="102084"/>
          </a:xfrm>
          <a:prstGeom prst="ellipse">
            <a:avLst/>
          </a:prstGeom>
          <a:solidFill>
            <a:srgbClr val="0F6B4B"/>
          </a:solidFill>
          <a:ln w="12700">
            <a:solidFill>
              <a:srgbClr val="0F6B4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129172" y="5519805"/>
            <a:ext cx="3791676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10,000,000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elements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0"/>
          <p:cNvSpPr txBox="1"/>
          <p:nvPr/>
        </p:nvSpPr>
        <p:spPr>
          <a:xfrm>
            <a:off x="2129172" y="5833347"/>
            <a:ext cx="3791676" cy="58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All elements are 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2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(for verification)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183348" y="823960"/>
            <a:ext cx="5738555" cy="5855222"/>
          </a:xfrm>
          <a:prstGeom prst="roundRect">
            <a:avLst>
              <a:gd name="adj" fmla="val 637"/>
            </a:avLst>
          </a:prstGeom>
          <a:solidFill>
            <a:srgbClr val="FEF3EE"/>
          </a:solidFill>
          <a:ln w="12700">
            <a:solidFill>
              <a:srgbClr val="FEF3E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300015" y="904169"/>
            <a:ext cx="5505221" cy="481251"/>
          </a:xfrm>
          <a:prstGeom prst="roundRect">
            <a:avLst>
              <a:gd name="adj" fmla="val 22801"/>
            </a:avLst>
          </a:prstGeom>
          <a:solidFill>
            <a:srgbClr val="FCE0D6"/>
          </a:solidFill>
          <a:ln w="12700">
            <a:solidFill>
              <a:srgbClr val="FCE0D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496890" y="904169"/>
            <a:ext cx="4375010" cy="4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Execution Workflow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912516" y="1545837"/>
            <a:ext cx="4331260" cy="823960"/>
          </a:xfrm>
          <a:prstGeom prst="roundRect">
            <a:avLst>
              <a:gd name="adj" fmla="val 7768"/>
            </a:avLst>
          </a:prstGeom>
          <a:solidFill>
            <a:srgbClr val="FBDADD"/>
          </a:solidFill>
          <a:ln w="12700">
            <a:solidFill>
              <a:srgbClr val="F29BA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043766" y="1618754"/>
            <a:ext cx="714585" cy="714585"/>
          </a:xfrm>
          <a:prstGeom prst="ellipse">
            <a:avLst/>
          </a:prstGeom>
          <a:solidFill>
            <a:srgbClr val="F7C5CA"/>
          </a:solidFill>
          <a:ln w="12700">
            <a:solidFill>
              <a:srgbClr val="F7C5CA"/>
            </a:solidFill>
            <a:prstDash val="solid"/>
          </a:ln>
        </p:spPr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548" y="1779535"/>
            <a:ext cx="393022" cy="393022"/>
          </a:xfrm>
          <a:prstGeom prst="rect">
            <a:avLst/>
          </a:prstGeom>
        </p:spPr>
      </p:pic>
      <p:sp>
        <p:nvSpPr>
          <p:cNvPr id="60" name="Text 56"/>
          <p:cNvSpPr txBox="1"/>
          <p:nvPr/>
        </p:nvSpPr>
        <p:spPr>
          <a:xfrm>
            <a:off x="8086477" y="1545837"/>
            <a:ext cx="3091674" cy="82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Input Dataset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10,000,000 elements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(initialized with 1)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7"/>
          <p:cNvSpPr/>
          <p:nvPr/>
        </p:nvSpPr>
        <p:spPr>
          <a:xfrm>
            <a:off x="6912516" y="2603131"/>
            <a:ext cx="4331260" cy="692710"/>
          </a:xfrm>
          <a:prstGeom prst="roundRect">
            <a:avLst>
              <a:gd name="adj" fmla="val 9240"/>
            </a:avLst>
          </a:prstGeom>
          <a:solidFill>
            <a:srgbClr val="D8F0E0"/>
          </a:solidFill>
          <a:ln w="12700">
            <a:solidFill>
              <a:srgbClr val="9FD4B8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7072933" y="2632298"/>
            <a:ext cx="656252" cy="656252"/>
          </a:xfrm>
          <a:prstGeom prst="ellipse">
            <a:avLst/>
          </a:prstGeom>
          <a:solidFill>
            <a:srgbClr val="C5E8D3"/>
          </a:solidFill>
          <a:ln w="12700">
            <a:solidFill>
              <a:srgbClr val="C5E8D3"/>
            </a:solidFill>
            <a:prstDash val="solid"/>
          </a:ln>
        </p:spPr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590" y="2779954"/>
            <a:ext cx="360938" cy="360938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8086477" y="2603131"/>
            <a:ext cx="3091674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 Number of Threads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OMP_NUM_THREADS = 1, 2, 4, 8, 12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0"/>
          <p:cNvSpPr/>
          <p:nvPr/>
        </p:nvSpPr>
        <p:spPr>
          <a:xfrm>
            <a:off x="6912516" y="3514592"/>
            <a:ext cx="4447927" cy="1086461"/>
          </a:xfrm>
          <a:prstGeom prst="roundRect">
            <a:avLst>
              <a:gd name="adj" fmla="val 5891"/>
            </a:avLst>
          </a:prstGeom>
          <a:solidFill>
            <a:srgbClr val="D6E6FB"/>
          </a:solidFill>
          <a:ln w="12700">
            <a:solidFill>
              <a:srgbClr val="8FB2EA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7043766" y="3704175"/>
            <a:ext cx="714585" cy="714585"/>
          </a:xfrm>
          <a:prstGeom prst="ellipse">
            <a:avLst/>
          </a:prstGeom>
          <a:solidFill>
            <a:srgbClr val="BCD3F5"/>
          </a:solidFill>
          <a:ln w="12700">
            <a:solidFill>
              <a:srgbClr val="BCD3F5"/>
            </a:solidFill>
            <a:prstDash val="solid"/>
          </a:ln>
        </p:spPr>
      </p:sp>
      <p:pic>
        <p:nvPicPr>
          <p:cNvPr id="6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4548" y="3864957"/>
            <a:ext cx="393022" cy="393022"/>
          </a:xfrm>
          <a:prstGeom prst="rect">
            <a:avLst/>
          </a:prstGeom>
        </p:spPr>
      </p:pic>
      <p:sp>
        <p:nvSpPr>
          <p:cNvPr id="68" name="Text 62"/>
          <p:cNvSpPr txBox="1"/>
          <p:nvPr/>
        </p:nvSpPr>
        <p:spPr>
          <a:xfrm>
            <a:off x="8086477" y="3514592"/>
            <a:ext cx="3208341" cy="10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Computation (OpenMP)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Divide data among threads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computes a partial sum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Combine partial sums using reduction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3"/>
          <p:cNvSpPr/>
          <p:nvPr/>
        </p:nvSpPr>
        <p:spPr>
          <a:xfrm>
            <a:off x="6912516" y="4819803"/>
            <a:ext cx="4447927" cy="882294"/>
          </a:xfrm>
          <a:prstGeom prst="roundRect">
            <a:avLst>
              <a:gd name="adj" fmla="val 7255"/>
            </a:avLst>
          </a:prstGeom>
          <a:solidFill>
            <a:srgbClr val="E6E0F8"/>
          </a:solidFill>
          <a:ln w="12700">
            <a:solidFill>
              <a:srgbClr val="C2B8F0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7043766" y="4900011"/>
            <a:ext cx="714585" cy="714585"/>
          </a:xfrm>
          <a:prstGeom prst="ellipse">
            <a:avLst/>
          </a:prstGeom>
          <a:solidFill>
            <a:srgbClr val="D8CEF5"/>
          </a:solidFill>
          <a:ln w="12700">
            <a:solidFill>
              <a:srgbClr val="D8CEF5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7043766" y="4900011"/>
            <a:ext cx="714585" cy="714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A1F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66"/>
          <p:cNvSpPr txBox="1"/>
          <p:nvPr/>
        </p:nvSpPr>
        <p:spPr>
          <a:xfrm>
            <a:off x="8086477" y="4819803"/>
            <a:ext cx="3208341" cy="882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Compute Results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Sum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Average = Sum / Dataset Size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67"/>
          <p:cNvSpPr/>
          <p:nvPr/>
        </p:nvSpPr>
        <p:spPr>
          <a:xfrm>
            <a:off x="6912516" y="5913556"/>
            <a:ext cx="4331260" cy="700002"/>
          </a:xfrm>
          <a:prstGeom prst="roundRect">
            <a:avLst>
              <a:gd name="adj" fmla="val 9144"/>
            </a:avLst>
          </a:prstGeom>
          <a:solidFill>
            <a:srgbClr val="FEEBC4"/>
          </a:solidFill>
          <a:ln w="12700">
            <a:solidFill>
              <a:srgbClr val="F3C98B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7080225" y="5957306"/>
            <a:ext cx="641668" cy="641668"/>
          </a:xfrm>
          <a:prstGeom prst="ellipse">
            <a:avLst/>
          </a:prstGeom>
          <a:solidFill>
            <a:srgbClr val="F7D27A"/>
          </a:solidFill>
          <a:ln w="12700">
            <a:solidFill>
              <a:srgbClr val="F7D27A"/>
            </a:solidFill>
            <a:prstDash val="solid"/>
          </a:ln>
        </p:spPr>
      </p:sp>
      <p:pic>
        <p:nvPicPr>
          <p:cNvPr id="7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4600" y="6101681"/>
            <a:ext cx="352917" cy="352917"/>
          </a:xfrm>
          <a:prstGeom prst="rect">
            <a:avLst/>
          </a:prstGeom>
        </p:spPr>
      </p:pic>
      <p:sp>
        <p:nvSpPr>
          <p:cNvPr id="76" name="Text 69"/>
          <p:cNvSpPr txBox="1"/>
          <p:nvPr/>
        </p:nvSpPr>
        <p:spPr>
          <a:xfrm>
            <a:off x="8086477" y="5913556"/>
            <a:ext cx="3091674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B1F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Record time for each thread count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0"/>
          <p:cNvSpPr/>
          <p:nvPr/>
        </p:nvSpPr>
        <p:spPr>
          <a:xfrm>
            <a:off x="9063563" y="2369797"/>
            <a:ext cx="0" cy="226042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78" name="Shape 71"/>
          <p:cNvSpPr/>
          <p:nvPr/>
        </p:nvSpPr>
        <p:spPr>
          <a:xfrm>
            <a:off x="9063563" y="3295841"/>
            <a:ext cx="0" cy="211459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79" name="Shape 72"/>
          <p:cNvSpPr/>
          <p:nvPr/>
        </p:nvSpPr>
        <p:spPr>
          <a:xfrm>
            <a:off x="9063563" y="4601052"/>
            <a:ext cx="0" cy="211459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  <p:sp>
        <p:nvSpPr>
          <p:cNvPr id="80" name="Shape 73"/>
          <p:cNvSpPr/>
          <p:nvPr/>
        </p:nvSpPr>
        <p:spPr>
          <a:xfrm>
            <a:off x="9063563" y="5702097"/>
            <a:ext cx="0" cy="204167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7294" y="0"/>
            <a:ext cx="6781266" cy="692710"/>
          </a:xfrm>
          <a:prstGeom prst="rect">
            <a:avLst/>
          </a:prstGeom>
          <a:solidFill>
            <a:srgbClr val="CFE0F7"/>
          </a:solidFill>
          <a:ln/>
        </p:spPr>
      </p:sp>
      <p:sp>
        <p:nvSpPr>
          <p:cNvPr id="3" name="Shape 1"/>
          <p:cNvSpPr/>
          <p:nvPr/>
        </p:nvSpPr>
        <p:spPr>
          <a:xfrm flipH="1" flipV="1">
            <a:off x="7510434" y="0"/>
            <a:ext cx="335417" cy="692710"/>
          </a:xfrm>
          <a:prstGeom prst="rtTriangle">
            <a:avLst/>
          </a:prstGeom>
          <a:solidFill>
            <a:srgbClr val="FAFC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25003" cy="692710"/>
          </a:xfrm>
          <a:prstGeom prst="homePlate">
            <a:avLst/>
          </a:prstGeom>
          <a:solidFill>
            <a:srgbClr val="0B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0"/>
            <a:ext cx="984377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509379" y="0"/>
            <a:ext cx="5833347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Results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20852" y="204167"/>
            <a:ext cx="2770840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200" normalizeH="0" baseline="0" noProof="0" dirty="0">
                <a:ln>
                  <a:noFill/>
                </a:ln>
                <a:solidFill>
                  <a:srgbClr val="1A3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GPU and Computing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864609" y="350001"/>
            <a:ext cx="1020836" cy="0"/>
          </a:xfrm>
          <a:prstGeom prst="line">
            <a:avLst/>
          </a:prstGeom>
          <a:noFill/>
          <a:ln w="19050">
            <a:solidFill>
              <a:srgbClr val="0B2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19819" y="262501"/>
            <a:ext cx="175000" cy="175000"/>
          </a:xfrm>
          <a:prstGeom prst="ellipse">
            <a:avLst/>
          </a:prstGeom>
          <a:solidFill>
            <a:srgbClr val="0B2A6B"/>
          </a:solidFill>
          <a:ln/>
        </p:spPr>
      </p:sp>
      <p:sp>
        <p:nvSpPr>
          <p:cNvPr id="10" name="Shape 8"/>
          <p:cNvSpPr/>
          <p:nvPr/>
        </p:nvSpPr>
        <p:spPr>
          <a:xfrm>
            <a:off x="240626" y="816669"/>
            <a:ext cx="5760430" cy="3609383"/>
          </a:xfrm>
          <a:prstGeom prst="roundRect">
            <a:avLst>
              <a:gd name="adj" fmla="val 3800"/>
            </a:avLst>
          </a:prstGeom>
          <a:solidFill>
            <a:srgbClr val="EEF4FC"/>
          </a:solidFill>
          <a:ln/>
        </p:spPr>
      </p:sp>
      <p:sp>
        <p:nvSpPr>
          <p:cNvPr id="11" name="Shape 9"/>
          <p:cNvSpPr/>
          <p:nvPr/>
        </p:nvSpPr>
        <p:spPr>
          <a:xfrm>
            <a:off x="408334" y="969794"/>
            <a:ext cx="5425013" cy="597918"/>
          </a:xfrm>
          <a:prstGeom prst="roundRect">
            <a:avLst>
              <a:gd name="adj" fmla="val 22940"/>
            </a:avLst>
          </a:prstGeom>
          <a:solidFill>
            <a:srgbClr val="DCE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08334" y="969794"/>
            <a:ext cx="597918" cy="597918"/>
          </a:xfrm>
          <a:prstGeom prst="ellipse">
            <a:avLst/>
          </a:prstGeom>
          <a:solidFill>
            <a:srgbClr val="CFE0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25001" y="1086461"/>
            <a:ext cx="364584" cy="364584"/>
          </a:xfrm>
          <a:prstGeom prst="ellipse">
            <a:avLst/>
          </a:prstGeom>
          <a:solidFill>
            <a:srgbClr val="DCE9FA"/>
          </a:solidFill>
          <a:ln w="31750">
            <a:solidFill>
              <a:srgbClr val="0B1F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7293" y="1166669"/>
            <a:ext cx="0" cy="116667"/>
          </a:xfrm>
          <a:prstGeom prst="line">
            <a:avLst/>
          </a:prstGeom>
          <a:noFill/>
          <a:ln w="31750">
            <a:solidFill>
              <a:srgbClr val="0B1F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293" y="1283336"/>
            <a:ext cx="80209" cy="51042"/>
          </a:xfrm>
          <a:prstGeom prst="line">
            <a:avLst/>
          </a:prstGeom>
          <a:noFill/>
          <a:ln w="3175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4794" y="969794"/>
            <a:ext cx="4666678" cy="597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for Different Threads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5626" y="1698962"/>
            <a:ext cx="5403138" cy="253021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5626" y="1698962"/>
            <a:ext cx="5403138" cy="401043"/>
          </a:xfrm>
          <a:prstGeom prst="rect">
            <a:avLst/>
          </a:prstGeom>
          <a:solidFill>
            <a:srgbClr val="DCE9FA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5626" y="1698962"/>
            <a:ext cx="2515631" cy="401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Threads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931257" y="1698962"/>
            <a:ext cx="2887507" cy="401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(seconds)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5626" y="2100005"/>
            <a:ext cx="5403138" cy="42583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5626" y="2100005"/>
            <a:ext cx="2515631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2931257" y="2100005"/>
            <a:ext cx="2887507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0.006786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5626" y="2525839"/>
            <a:ext cx="5403138" cy="425834"/>
          </a:xfrm>
          <a:prstGeom prst="rect">
            <a:avLst/>
          </a:prstGeom>
          <a:solidFill>
            <a:srgbClr val="F3F7FC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5626" y="2525839"/>
            <a:ext cx="2515631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931257" y="2525839"/>
            <a:ext cx="2887507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0.004173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5626" y="2951674"/>
            <a:ext cx="5403138" cy="425834"/>
          </a:xfrm>
          <a:prstGeom prst="rect">
            <a:avLst/>
          </a:prstGeom>
          <a:solidFill>
            <a:srgbClr val="DFF0DC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5626" y="2951674"/>
            <a:ext cx="2515631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2931257" y="2951674"/>
            <a:ext cx="2887507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0.003273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5626" y="3377508"/>
            <a:ext cx="5403138" cy="425834"/>
          </a:xfrm>
          <a:prstGeom prst="rect">
            <a:avLst/>
          </a:prstGeom>
          <a:solidFill>
            <a:srgbClr val="F3F7FC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5626" y="3377508"/>
            <a:ext cx="2515631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2931257" y="3377508"/>
            <a:ext cx="2887507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0.013438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15626" y="3803342"/>
            <a:ext cx="5403138" cy="42583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5626" y="3803342"/>
            <a:ext cx="2515631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2931257" y="3803342"/>
            <a:ext cx="2887507" cy="425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0.013632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931257" y="1698962"/>
            <a:ext cx="0" cy="2530214"/>
          </a:xfrm>
          <a:prstGeom prst="line">
            <a:avLst/>
          </a:prstGeom>
          <a:noFill/>
          <a:ln w="12700">
            <a:solidFill>
              <a:srgbClr val="C9D8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0626" y="4520844"/>
            <a:ext cx="5760430" cy="2172922"/>
          </a:xfrm>
          <a:prstGeom prst="roundRect">
            <a:avLst>
              <a:gd name="adj" fmla="val 6312"/>
            </a:avLst>
          </a:prstGeom>
          <a:solidFill>
            <a:srgbClr val="EFF7F0"/>
          </a:solidFill>
          <a:ln/>
        </p:spPr>
      </p:sp>
      <p:sp>
        <p:nvSpPr>
          <p:cNvPr id="38" name="Shape 36"/>
          <p:cNvSpPr/>
          <p:nvPr/>
        </p:nvSpPr>
        <p:spPr>
          <a:xfrm>
            <a:off x="452084" y="4666678"/>
            <a:ext cx="5330221" cy="583335"/>
          </a:xfrm>
          <a:prstGeom prst="roundRect">
            <a:avLst>
              <a:gd name="adj" fmla="val 23513"/>
            </a:avLst>
          </a:prstGeom>
          <a:solidFill>
            <a:srgbClr val="DFF0E1"/>
          </a:solidFill>
          <a:ln/>
        </p:spPr>
      </p:sp>
      <p:sp>
        <p:nvSpPr>
          <p:cNvPr id="39" name="Shape 37"/>
          <p:cNvSpPr/>
          <p:nvPr/>
        </p:nvSpPr>
        <p:spPr>
          <a:xfrm>
            <a:off x="452084" y="4666678"/>
            <a:ext cx="583335" cy="583335"/>
          </a:xfrm>
          <a:prstGeom prst="ellipse">
            <a:avLst/>
          </a:prstGeom>
          <a:solidFill>
            <a:srgbClr val="D3EBD6"/>
          </a:solidFill>
          <a:ln/>
        </p:spPr>
      </p:sp>
      <p:sp>
        <p:nvSpPr>
          <p:cNvPr id="40" name="Shape 38"/>
          <p:cNvSpPr/>
          <p:nvPr/>
        </p:nvSpPr>
        <p:spPr>
          <a:xfrm>
            <a:off x="597918" y="4958345"/>
            <a:ext cx="102084" cy="189584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41" name="Shape 39"/>
          <p:cNvSpPr/>
          <p:nvPr/>
        </p:nvSpPr>
        <p:spPr>
          <a:xfrm>
            <a:off x="714585" y="4856261"/>
            <a:ext cx="102084" cy="291667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42" name="Shape 40"/>
          <p:cNvSpPr/>
          <p:nvPr/>
        </p:nvSpPr>
        <p:spPr>
          <a:xfrm>
            <a:off x="831252" y="4754178"/>
            <a:ext cx="102084" cy="393751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166669" y="4666678"/>
            <a:ext cx="3645842" cy="58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68751" y="5454179"/>
            <a:ext cx="123959" cy="123959"/>
          </a:xfrm>
          <a:prstGeom prst="ellipse">
            <a:avLst/>
          </a:prstGeom>
          <a:solidFill>
            <a:srgbClr val="1E7B3C"/>
          </a:solidFill>
          <a:ln/>
        </p:spPr>
      </p:sp>
      <p:sp>
        <p:nvSpPr>
          <p:cNvPr id="45" name="Shape 43"/>
          <p:cNvSpPr/>
          <p:nvPr/>
        </p:nvSpPr>
        <p:spPr>
          <a:xfrm>
            <a:off x="568751" y="5760430"/>
            <a:ext cx="123959" cy="123959"/>
          </a:xfrm>
          <a:prstGeom prst="ellipse">
            <a:avLst/>
          </a:prstGeom>
          <a:solidFill>
            <a:srgbClr val="1E7B3C"/>
          </a:solidFill>
          <a:ln/>
        </p:spPr>
      </p:sp>
      <p:sp>
        <p:nvSpPr>
          <p:cNvPr id="46" name="Shape 44"/>
          <p:cNvSpPr/>
          <p:nvPr/>
        </p:nvSpPr>
        <p:spPr>
          <a:xfrm>
            <a:off x="568751" y="6052097"/>
            <a:ext cx="123959" cy="123959"/>
          </a:xfrm>
          <a:prstGeom prst="ellipse">
            <a:avLst/>
          </a:prstGeom>
          <a:solidFill>
            <a:srgbClr val="1E7B3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60419" y="5359388"/>
            <a:ext cx="5031262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decreases from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to 4 threads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860419" y="5665638"/>
            <a:ext cx="5031262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threads give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lowest execution time (0.003273 s)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860419" y="5942722"/>
            <a:ext cx="4812511" cy="55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threads beyond 4 results in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higher execution time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088556" y="816669"/>
            <a:ext cx="5979181" cy="5877097"/>
          </a:xfrm>
          <a:prstGeom prst="roundRect">
            <a:avLst>
              <a:gd name="adj" fmla="val 2334"/>
            </a:avLst>
          </a:prstGeom>
          <a:solidFill>
            <a:srgbClr val="FEF5F5"/>
          </a:solidFill>
          <a:ln/>
        </p:spPr>
      </p:sp>
      <p:sp>
        <p:nvSpPr>
          <p:cNvPr id="51" name="Shape 49"/>
          <p:cNvSpPr/>
          <p:nvPr/>
        </p:nvSpPr>
        <p:spPr>
          <a:xfrm>
            <a:off x="6227098" y="933336"/>
            <a:ext cx="5680222" cy="685418"/>
          </a:xfrm>
          <a:prstGeom prst="roundRect">
            <a:avLst>
              <a:gd name="adj" fmla="val 20011"/>
            </a:avLst>
          </a:prstGeom>
          <a:solidFill>
            <a:srgbClr val="FB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6358348" y="947919"/>
            <a:ext cx="656252" cy="656252"/>
          </a:xfrm>
          <a:prstGeom prst="ellipse">
            <a:avLst/>
          </a:prstGeom>
          <a:solidFill>
            <a:srgbClr val="F8D0D0"/>
          </a:solidFill>
          <a:ln/>
        </p:spPr>
      </p:sp>
      <p:sp>
        <p:nvSpPr>
          <p:cNvPr id="53" name="Shape 51"/>
          <p:cNvSpPr/>
          <p:nvPr/>
        </p:nvSpPr>
        <p:spPr>
          <a:xfrm>
            <a:off x="6518765" y="1385420"/>
            <a:ext cx="102084" cy="160417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4" name="Shape 52"/>
          <p:cNvSpPr/>
          <p:nvPr/>
        </p:nvSpPr>
        <p:spPr>
          <a:xfrm>
            <a:off x="6657307" y="1276045"/>
            <a:ext cx="102084" cy="26979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5" name="Shape 53"/>
          <p:cNvSpPr/>
          <p:nvPr/>
        </p:nvSpPr>
        <p:spPr>
          <a:xfrm>
            <a:off x="6795849" y="1108336"/>
            <a:ext cx="102084" cy="437501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160433" y="933336"/>
            <a:ext cx="4666678" cy="68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vs Number of Threads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7" name="Chart 0"/>
          <p:cNvGraphicFramePr/>
          <p:nvPr/>
        </p:nvGraphicFramePr>
        <p:xfrm>
          <a:off x="6197931" y="1786463"/>
          <a:ext cx="5760430" cy="4739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7294" y="0"/>
            <a:ext cx="6781266" cy="700002"/>
          </a:xfrm>
          <a:prstGeom prst="rect">
            <a:avLst/>
          </a:prstGeom>
          <a:solidFill>
            <a:srgbClr val="CFE0F7"/>
          </a:solidFill>
          <a:ln/>
        </p:spPr>
      </p:sp>
      <p:sp>
        <p:nvSpPr>
          <p:cNvPr id="3" name="Shape 1"/>
          <p:cNvSpPr/>
          <p:nvPr/>
        </p:nvSpPr>
        <p:spPr>
          <a:xfrm flipH="1" flipV="1">
            <a:off x="7510434" y="0"/>
            <a:ext cx="335417" cy="700002"/>
          </a:xfrm>
          <a:prstGeom prst="rtTriangle">
            <a:avLst/>
          </a:prstGeom>
          <a:solidFill>
            <a:srgbClr val="FAFC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25003" cy="700002"/>
          </a:xfrm>
          <a:prstGeom prst="homePlate">
            <a:avLst/>
          </a:prstGeom>
          <a:solidFill>
            <a:srgbClr val="0B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0"/>
            <a:ext cx="984377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523962" y="0"/>
            <a:ext cx="6197931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Speedup and Efficiency Analysis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20852" y="218751"/>
            <a:ext cx="2770840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200" normalizeH="0" baseline="0" noProof="0" dirty="0">
                <a:ln>
                  <a:noFill/>
                </a:ln>
                <a:solidFill>
                  <a:srgbClr val="1A3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GPU and Computing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864609" y="364584"/>
            <a:ext cx="1020836" cy="0"/>
          </a:xfrm>
          <a:prstGeom prst="line">
            <a:avLst/>
          </a:prstGeom>
          <a:noFill/>
          <a:ln w="19050">
            <a:solidFill>
              <a:srgbClr val="0B2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12528" y="277084"/>
            <a:ext cx="175000" cy="175000"/>
          </a:xfrm>
          <a:prstGeom prst="ellipse">
            <a:avLst/>
          </a:prstGeom>
          <a:solidFill>
            <a:srgbClr val="0B2A6B"/>
          </a:solidFill>
          <a:ln/>
        </p:spPr>
      </p:sp>
      <p:sp>
        <p:nvSpPr>
          <p:cNvPr id="10" name="Shape 8"/>
          <p:cNvSpPr/>
          <p:nvPr/>
        </p:nvSpPr>
        <p:spPr>
          <a:xfrm>
            <a:off x="218751" y="787502"/>
            <a:ext cx="6030222" cy="4608344"/>
          </a:xfrm>
          <a:prstGeom prst="roundRect">
            <a:avLst>
              <a:gd name="adj" fmla="val 2976"/>
            </a:avLst>
          </a:prstGeom>
          <a:solidFill>
            <a:srgbClr val="EEF4FC"/>
          </a:solidFill>
          <a:ln/>
        </p:spPr>
      </p:sp>
      <p:sp>
        <p:nvSpPr>
          <p:cNvPr id="11" name="Shape 9"/>
          <p:cNvSpPr/>
          <p:nvPr/>
        </p:nvSpPr>
        <p:spPr>
          <a:xfrm>
            <a:off x="328126" y="947919"/>
            <a:ext cx="5796889" cy="634376"/>
          </a:xfrm>
          <a:prstGeom prst="roundRect">
            <a:avLst>
              <a:gd name="adj" fmla="val 21621"/>
            </a:avLst>
          </a:prstGeom>
          <a:solidFill>
            <a:srgbClr val="DCE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01043" y="933336"/>
            <a:ext cx="670835" cy="670835"/>
          </a:xfrm>
          <a:prstGeom prst="ellipse">
            <a:avLst/>
          </a:prstGeom>
          <a:solidFill>
            <a:srgbClr val="CFE0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95834" y="1093753"/>
            <a:ext cx="481251" cy="481251"/>
          </a:xfrm>
          <a:prstGeom prst="arc">
            <a:avLst>
              <a:gd name="adj1" fmla="val 10800000"/>
              <a:gd name="adj2" fmla="val 21540000"/>
            </a:avLst>
          </a:prstGeom>
          <a:noFill/>
          <a:ln w="50800">
            <a:solidFill>
              <a:srgbClr val="0B1F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29168" y="1239586"/>
            <a:ext cx="131250" cy="160417"/>
          </a:xfrm>
          <a:prstGeom prst="line">
            <a:avLst/>
          </a:prstGeom>
          <a:noFill/>
          <a:ln w="38100">
            <a:solidFill>
              <a:srgbClr val="0B1F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418" y="1356253"/>
            <a:ext cx="87500" cy="87500"/>
          </a:xfrm>
          <a:prstGeom prst="ellipse">
            <a:avLst/>
          </a:prstGeom>
          <a:solidFill>
            <a:srgbClr val="0B1F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25003" y="947919"/>
            <a:ext cx="4812511" cy="63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Speedup and Efficiency Results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8126" y="1706254"/>
            <a:ext cx="5796889" cy="315729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126" y="1706254"/>
            <a:ext cx="5796889" cy="700002"/>
          </a:xfrm>
          <a:prstGeom prst="rect">
            <a:avLst/>
          </a:prstGeom>
          <a:solidFill>
            <a:srgbClr val="DCE9FA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8126" y="1706254"/>
            <a:ext cx="1327086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Number of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Threads (T)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655212" y="1706254"/>
            <a:ext cx="1589587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(seconds)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681261" y="1706254"/>
            <a:ext cx="1443753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(E = S / T)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244799" y="1706254"/>
            <a:ext cx="1436462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(S = T</a:t>
            </a:r>
            <a:r>
              <a:rPr kumimoji="0" lang="en-US" sz="1500" b="1" i="0" u="none" strike="noStrike" kern="1200" cap="none" spc="0" normalizeH="0" baseline="-4000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/ T</a:t>
            </a:r>
            <a:r>
              <a:rPr kumimoji="0" lang="en-US" sz="1500" b="1" i="0" u="none" strike="noStrike" kern="1200" cap="none" spc="0" normalizeH="0" baseline="-4000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8126" y="2406256"/>
            <a:ext cx="5796889" cy="49145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8126" y="2406256"/>
            <a:ext cx="1327086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655212" y="2406256"/>
            <a:ext cx="1589587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0.006786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244799" y="2406256"/>
            <a:ext cx="1436462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4681261" y="2406256"/>
            <a:ext cx="1443753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8126" y="2897715"/>
            <a:ext cx="5796889" cy="491459"/>
          </a:xfrm>
          <a:prstGeom prst="rect">
            <a:avLst/>
          </a:prstGeom>
          <a:solidFill>
            <a:srgbClr val="F3F7FC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8126" y="2897715"/>
            <a:ext cx="1327086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655212" y="2897715"/>
            <a:ext cx="1589587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0.004173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3244799" y="2897715"/>
            <a:ext cx="1436462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1.63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681261" y="2897715"/>
            <a:ext cx="1443753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81.3%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8126" y="3389175"/>
            <a:ext cx="5796889" cy="491459"/>
          </a:xfrm>
          <a:prstGeom prst="rect">
            <a:avLst/>
          </a:prstGeom>
          <a:solidFill>
            <a:srgbClr val="DFF0DC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8126" y="3389175"/>
            <a:ext cx="1327086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1655212" y="3389175"/>
            <a:ext cx="1589587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0.003273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3244799" y="3389175"/>
            <a:ext cx="1436462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2.07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4681261" y="3389175"/>
            <a:ext cx="1443753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51.9%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28126" y="3880634"/>
            <a:ext cx="5796889" cy="491459"/>
          </a:xfrm>
          <a:prstGeom prst="rect">
            <a:avLst/>
          </a:prstGeom>
          <a:solidFill>
            <a:srgbClr val="F3F7FC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8126" y="3880634"/>
            <a:ext cx="1327086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655212" y="3880634"/>
            <a:ext cx="1589587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0.013438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3244799" y="3880634"/>
            <a:ext cx="1436462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4681261" y="3880634"/>
            <a:ext cx="1443753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28126" y="4372094"/>
            <a:ext cx="5796889" cy="49145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28126" y="4372094"/>
            <a:ext cx="1327086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1655212" y="4372094"/>
            <a:ext cx="1589587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0.013632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3244799" y="4372094"/>
            <a:ext cx="1436462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4681261" y="4372094"/>
            <a:ext cx="1443753" cy="4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655212" y="1706254"/>
            <a:ext cx="0" cy="3157299"/>
          </a:xfrm>
          <a:prstGeom prst="line">
            <a:avLst/>
          </a:prstGeom>
          <a:noFill/>
          <a:ln w="12700">
            <a:solidFill>
              <a:srgbClr val="C9D8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44799" y="1706254"/>
            <a:ext cx="0" cy="3157299"/>
          </a:xfrm>
          <a:prstGeom prst="line">
            <a:avLst/>
          </a:prstGeom>
          <a:noFill/>
          <a:ln w="12700">
            <a:solidFill>
              <a:srgbClr val="C9D8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81261" y="1706254"/>
            <a:ext cx="0" cy="3157299"/>
          </a:xfrm>
          <a:prstGeom prst="line">
            <a:avLst/>
          </a:prstGeom>
          <a:noFill/>
          <a:ln w="12700">
            <a:solidFill>
              <a:srgbClr val="C9D8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80223" y="787502"/>
            <a:ext cx="5578138" cy="2311464"/>
          </a:xfrm>
          <a:prstGeom prst="roundRect">
            <a:avLst>
              <a:gd name="adj" fmla="val 5934"/>
            </a:avLst>
          </a:prstGeom>
          <a:solidFill>
            <a:srgbClr val="FEF5F5"/>
          </a:solidFill>
          <a:ln/>
        </p:spPr>
      </p:sp>
      <p:sp>
        <p:nvSpPr>
          <p:cNvPr id="52" name="Shape 50"/>
          <p:cNvSpPr/>
          <p:nvPr/>
        </p:nvSpPr>
        <p:spPr>
          <a:xfrm>
            <a:off x="6467723" y="853127"/>
            <a:ext cx="5432304" cy="386459"/>
          </a:xfrm>
          <a:prstGeom prst="roundRect">
            <a:avLst>
              <a:gd name="adj" fmla="val 35491"/>
            </a:avLst>
          </a:prstGeom>
          <a:solidFill>
            <a:srgbClr val="FBE0E0"/>
          </a:solidFill>
          <a:ln/>
        </p:spPr>
      </p:sp>
      <p:sp>
        <p:nvSpPr>
          <p:cNvPr id="53" name="Shape 51"/>
          <p:cNvSpPr/>
          <p:nvPr/>
        </p:nvSpPr>
        <p:spPr>
          <a:xfrm>
            <a:off x="6562515" y="867710"/>
            <a:ext cx="306251" cy="306251"/>
          </a:xfrm>
          <a:prstGeom prst="ellipse">
            <a:avLst/>
          </a:prstGeom>
          <a:solidFill>
            <a:srgbClr val="F8D0D0"/>
          </a:solidFill>
          <a:ln/>
        </p:spPr>
      </p:sp>
      <p:sp>
        <p:nvSpPr>
          <p:cNvPr id="54" name="Shape 52"/>
          <p:cNvSpPr/>
          <p:nvPr/>
        </p:nvSpPr>
        <p:spPr>
          <a:xfrm>
            <a:off x="6606265" y="911460"/>
            <a:ext cx="218751" cy="218751"/>
          </a:xfrm>
          <a:prstGeom prst="ellipse">
            <a:avLst/>
          </a:prstGeom>
          <a:solidFill>
            <a:srgbClr val="FBE0E0"/>
          </a:solidFill>
          <a:ln w="31750">
            <a:solidFill>
              <a:srgbClr val="A320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15641" y="969794"/>
            <a:ext cx="0" cy="65625"/>
          </a:xfrm>
          <a:prstGeom prst="line">
            <a:avLst/>
          </a:prstGeom>
          <a:noFill/>
          <a:ln w="25400">
            <a:solidFill>
              <a:srgbClr val="A3202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15641" y="1035419"/>
            <a:ext cx="43750" cy="36458"/>
          </a:xfrm>
          <a:prstGeom prst="line">
            <a:avLst/>
          </a:prstGeom>
          <a:noFill/>
          <a:ln w="25400">
            <a:solidFill>
              <a:srgbClr val="A3202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065642" y="853127"/>
            <a:ext cx="4375010" cy="386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Speedup vs Number of Threads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8" name="Chart 0"/>
          <p:cNvGraphicFramePr/>
          <p:nvPr/>
        </p:nvGraphicFramePr>
        <p:xfrm>
          <a:off x="6526057" y="1276045"/>
          <a:ext cx="5395846" cy="1822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9" name="Shape 56"/>
          <p:cNvSpPr/>
          <p:nvPr/>
        </p:nvSpPr>
        <p:spPr>
          <a:xfrm>
            <a:off x="6380223" y="3171882"/>
            <a:ext cx="5578138" cy="2223964"/>
          </a:xfrm>
          <a:prstGeom prst="roundRect">
            <a:avLst>
              <a:gd name="adj" fmla="val 6167"/>
            </a:avLst>
          </a:prstGeom>
          <a:solidFill>
            <a:srgbClr val="F1F8F3"/>
          </a:solidFill>
          <a:ln/>
        </p:spPr>
      </p:sp>
      <p:sp>
        <p:nvSpPr>
          <p:cNvPr id="60" name="Shape 57"/>
          <p:cNvSpPr/>
          <p:nvPr/>
        </p:nvSpPr>
        <p:spPr>
          <a:xfrm>
            <a:off x="6467723" y="3244799"/>
            <a:ext cx="5432304" cy="386459"/>
          </a:xfrm>
          <a:prstGeom prst="roundRect">
            <a:avLst>
              <a:gd name="adj" fmla="val 35491"/>
            </a:avLst>
          </a:prstGeom>
          <a:solidFill>
            <a:srgbClr val="DFF0E1"/>
          </a:solidFill>
          <a:ln/>
        </p:spPr>
      </p:sp>
      <p:sp>
        <p:nvSpPr>
          <p:cNvPr id="61" name="Shape 58"/>
          <p:cNvSpPr/>
          <p:nvPr/>
        </p:nvSpPr>
        <p:spPr>
          <a:xfrm>
            <a:off x="6562515" y="3237508"/>
            <a:ext cx="408334" cy="408334"/>
          </a:xfrm>
          <a:prstGeom prst="ellipse">
            <a:avLst/>
          </a:prstGeom>
          <a:solidFill>
            <a:srgbClr val="D3EBD6"/>
          </a:solidFill>
          <a:ln/>
        </p:spPr>
      </p:sp>
      <p:sp>
        <p:nvSpPr>
          <p:cNvPr id="62" name="Shape 59"/>
          <p:cNvSpPr/>
          <p:nvPr/>
        </p:nvSpPr>
        <p:spPr>
          <a:xfrm>
            <a:off x="6664599" y="3470841"/>
            <a:ext cx="72917" cy="102084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63" name="Shape 60"/>
          <p:cNvSpPr/>
          <p:nvPr/>
        </p:nvSpPr>
        <p:spPr>
          <a:xfrm>
            <a:off x="6766683" y="3412508"/>
            <a:ext cx="72917" cy="160417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64" name="Shape 61"/>
          <p:cNvSpPr/>
          <p:nvPr/>
        </p:nvSpPr>
        <p:spPr>
          <a:xfrm>
            <a:off x="6868766" y="3339591"/>
            <a:ext cx="72917" cy="233334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7065642" y="3244799"/>
            <a:ext cx="4375010" cy="386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vs Number of Threads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6" name="Chart 1"/>
          <p:cNvGraphicFramePr/>
          <p:nvPr/>
        </p:nvGraphicFramePr>
        <p:xfrm>
          <a:off x="6526057" y="3667717"/>
          <a:ext cx="5395846" cy="1728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7" name="Shape 63"/>
          <p:cNvSpPr/>
          <p:nvPr/>
        </p:nvSpPr>
        <p:spPr>
          <a:xfrm>
            <a:off x="218751" y="5454179"/>
            <a:ext cx="11754194" cy="1232295"/>
          </a:xfrm>
          <a:prstGeom prst="roundRect">
            <a:avLst>
              <a:gd name="adj" fmla="val 11130"/>
            </a:avLst>
          </a:prstGeom>
          <a:solidFill>
            <a:srgbClr val="FDEFE4"/>
          </a:solidFill>
          <a:ln/>
        </p:spPr>
      </p:sp>
      <p:sp>
        <p:nvSpPr>
          <p:cNvPr id="68" name="Shape 64"/>
          <p:cNvSpPr/>
          <p:nvPr/>
        </p:nvSpPr>
        <p:spPr>
          <a:xfrm>
            <a:off x="422918" y="5665638"/>
            <a:ext cx="670835" cy="670835"/>
          </a:xfrm>
          <a:prstGeom prst="ellipse">
            <a:avLst/>
          </a:prstGeom>
          <a:solidFill>
            <a:srgbClr val="FAD9A8"/>
          </a:solidFill>
          <a:ln/>
        </p:spPr>
      </p:sp>
      <p:sp>
        <p:nvSpPr>
          <p:cNvPr id="69" name="Shape 65"/>
          <p:cNvSpPr/>
          <p:nvPr/>
        </p:nvSpPr>
        <p:spPr>
          <a:xfrm>
            <a:off x="619793" y="5796889"/>
            <a:ext cx="277084" cy="291667"/>
          </a:xfrm>
          <a:prstGeom prst="ellipse">
            <a:avLst/>
          </a:prstGeom>
          <a:solidFill>
            <a:srgbClr val="FAD9A8"/>
          </a:solidFill>
          <a:ln w="31750">
            <a:solidFill>
              <a:srgbClr val="8A4B12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70835" y="6088556"/>
            <a:ext cx="175000" cy="102084"/>
          </a:xfrm>
          <a:prstGeom prst="rect">
            <a:avLst/>
          </a:prstGeom>
          <a:solidFill>
            <a:srgbClr val="8A4B12"/>
          </a:solidFill>
          <a:ln/>
        </p:spPr>
      </p:sp>
      <p:sp>
        <p:nvSpPr>
          <p:cNvPr id="71" name="Shape 67"/>
          <p:cNvSpPr/>
          <p:nvPr/>
        </p:nvSpPr>
        <p:spPr>
          <a:xfrm>
            <a:off x="700002" y="6190639"/>
            <a:ext cx="116667" cy="58333"/>
          </a:xfrm>
          <a:prstGeom prst="rect">
            <a:avLst/>
          </a:prstGeom>
          <a:solidFill>
            <a:srgbClr val="8A4B12"/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1232295" y="5665638"/>
            <a:ext cx="2406256" cy="670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3551050" y="5578138"/>
            <a:ext cx="0" cy="969794"/>
          </a:xfrm>
          <a:prstGeom prst="line">
            <a:avLst/>
          </a:prstGeom>
          <a:noFill/>
          <a:ln w="15240">
            <a:solidFill>
              <a:srgbClr val="C98F5A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3777092" y="5636472"/>
            <a:ext cx="102084" cy="102084"/>
          </a:xfrm>
          <a:prstGeom prst="ellipse">
            <a:avLst/>
          </a:prstGeom>
          <a:solidFill>
            <a:srgbClr val="F0902A"/>
          </a:solidFill>
          <a:ln/>
        </p:spPr>
      </p:sp>
      <p:sp>
        <p:nvSpPr>
          <p:cNvPr id="75" name="Text 71"/>
          <p:cNvSpPr txBox="1"/>
          <p:nvPr/>
        </p:nvSpPr>
        <p:spPr>
          <a:xfrm>
            <a:off x="3981259" y="5563555"/>
            <a:ext cx="7947935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Speedup improves from 1 to 4 threads, with maximum speedup of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2.07×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2"/>
          <p:cNvSpPr/>
          <p:nvPr/>
        </p:nvSpPr>
        <p:spPr>
          <a:xfrm>
            <a:off x="3777092" y="5884389"/>
            <a:ext cx="102084" cy="102084"/>
          </a:xfrm>
          <a:prstGeom prst="ellipse">
            <a:avLst/>
          </a:prstGeom>
          <a:solidFill>
            <a:srgbClr val="F0902A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3981259" y="5811472"/>
            <a:ext cx="7947935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threads give the best performance.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3777092" y="6132306"/>
            <a:ext cx="102084" cy="102084"/>
          </a:xfrm>
          <a:prstGeom prst="ellipse">
            <a:avLst/>
          </a:prstGeom>
          <a:solidFill>
            <a:srgbClr val="F0902A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3981259" y="6059389"/>
            <a:ext cx="7947935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decreases as the number of threads increases.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76"/>
          <p:cNvSpPr/>
          <p:nvPr/>
        </p:nvSpPr>
        <p:spPr>
          <a:xfrm>
            <a:off x="3777092" y="6380223"/>
            <a:ext cx="102084" cy="102084"/>
          </a:xfrm>
          <a:prstGeom prst="ellipse">
            <a:avLst/>
          </a:prstGeom>
          <a:solidFill>
            <a:srgbClr val="F0902A"/>
          </a:solidFill>
          <a:ln/>
        </p:spPr>
      </p:sp>
      <p:sp>
        <p:nvSpPr>
          <p:cNvPr id="81" name="Text 77"/>
          <p:cNvSpPr txBox="1"/>
          <p:nvPr/>
        </p:nvSpPr>
        <p:spPr>
          <a:xfrm>
            <a:off x="3981259" y="6307306"/>
            <a:ext cx="7947935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Beyond 4 threads, performance degrades due to thread overhead and system resource contention.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7294" y="0"/>
            <a:ext cx="6781266" cy="692710"/>
          </a:xfrm>
          <a:prstGeom prst="rect">
            <a:avLst/>
          </a:prstGeom>
          <a:solidFill>
            <a:srgbClr val="CFE0F7"/>
          </a:solidFill>
          <a:ln/>
        </p:spPr>
      </p:sp>
      <p:sp>
        <p:nvSpPr>
          <p:cNvPr id="3" name="Shape 1"/>
          <p:cNvSpPr/>
          <p:nvPr/>
        </p:nvSpPr>
        <p:spPr>
          <a:xfrm flipH="1" flipV="1">
            <a:off x="7510434" y="0"/>
            <a:ext cx="335417" cy="692710"/>
          </a:xfrm>
          <a:prstGeom prst="rtTriangle">
            <a:avLst/>
          </a:prstGeom>
          <a:solidFill>
            <a:srgbClr val="FAFC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25003" cy="692710"/>
          </a:xfrm>
          <a:prstGeom prst="homePlate">
            <a:avLst/>
          </a:prstGeom>
          <a:solidFill>
            <a:srgbClr val="0B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0"/>
            <a:ext cx="984377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516670" y="0"/>
            <a:ext cx="5104179" cy="692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20852" y="204167"/>
            <a:ext cx="2770840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0" cap="none" spc="200" normalizeH="0" baseline="0" noProof="0" dirty="0">
                <a:ln>
                  <a:noFill/>
                </a:ln>
                <a:solidFill>
                  <a:srgbClr val="1A3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GPU and Computing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864609" y="364584"/>
            <a:ext cx="1020836" cy="0"/>
          </a:xfrm>
          <a:prstGeom prst="line">
            <a:avLst/>
          </a:prstGeom>
          <a:noFill/>
          <a:ln w="19050">
            <a:solidFill>
              <a:srgbClr val="0B2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12528" y="277084"/>
            <a:ext cx="175000" cy="175000"/>
          </a:xfrm>
          <a:prstGeom prst="ellipse">
            <a:avLst/>
          </a:prstGeom>
          <a:solidFill>
            <a:srgbClr val="0B2A6B"/>
          </a:solidFill>
          <a:ln/>
        </p:spPr>
      </p:sp>
      <p:sp>
        <p:nvSpPr>
          <p:cNvPr id="10" name="Shape 8"/>
          <p:cNvSpPr/>
          <p:nvPr/>
        </p:nvSpPr>
        <p:spPr>
          <a:xfrm>
            <a:off x="269792" y="823960"/>
            <a:ext cx="5782305" cy="4673969"/>
          </a:xfrm>
          <a:prstGeom prst="roundRect">
            <a:avLst>
              <a:gd name="adj" fmla="val 2935"/>
            </a:avLst>
          </a:prstGeom>
          <a:solidFill>
            <a:srgbClr val="EEF4FC"/>
          </a:solidFill>
          <a:ln/>
        </p:spPr>
      </p:sp>
      <p:sp>
        <p:nvSpPr>
          <p:cNvPr id="11" name="Shape 9"/>
          <p:cNvSpPr/>
          <p:nvPr/>
        </p:nvSpPr>
        <p:spPr>
          <a:xfrm>
            <a:off x="401043" y="977086"/>
            <a:ext cx="5519805" cy="736460"/>
          </a:xfrm>
          <a:prstGeom prst="roundRect">
            <a:avLst>
              <a:gd name="adj" fmla="val 18624"/>
            </a:avLst>
          </a:prstGeom>
          <a:solidFill>
            <a:srgbClr val="DCE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084" y="955211"/>
            <a:ext cx="772918" cy="772918"/>
          </a:xfrm>
          <a:prstGeom prst="ellipse">
            <a:avLst/>
          </a:prstGeom>
          <a:solidFill>
            <a:srgbClr val="CFE0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25001" y="1137503"/>
            <a:ext cx="189584" cy="189584"/>
          </a:xfrm>
          <a:prstGeom prst="ellipse">
            <a:avLst/>
          </a:prstGeom>
          <a:ln w="38100">
            <a:solidFill>
              <a:srgbClr val="0B1F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4169" y="1137503"/>
            <a:ext cx="189584" cy="189584"/>
          </a:xfrm>
          <a:prstGeom prst="ellipse">
            <a:avLst/>
          </a:prstGeom>
          <a:ln w="38100">
            <a:solidFill>
              <a:srgbClr val="0B1F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668" y="1093753"/>
            <a:ext cx="393751" cy="277084"/>
          </a:xfrm>
          <a:prstGeom prst="roundRect">
            <a:avLst>
              <a:gd name="adj" fmla="val 132003"/>
            </a:avLst>
          </a:prstGeom>
          <a:solidFill>
            <a:srgbClr val="0B1F4D"/>
          </a:solidFill>
          <a:ln/>
        </p:spPr>
      </p:sp>
      <p:sp>
        <p:nvSpPr>
          <p:cNvPr id="16" name="Shape 14"/>
          <p:cNvSpPr/>
          <p:nvPr/>
        </p:nvSpPr>
        <p:spPr>
          <a:xfrm>
            <a:off x="787502" y="1356253"/>
            <a:ext cx="102084" cy="116667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418" y="1458337"/>
            <a:ext cx="306251" cy="65625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58337" y="977086"/>
            <a:ext cx="3645842" cy="736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5001" y="1859379"/>
            <a:ext cx="5279179" cy="1079169"/>
          </a:xfrm>
          <a:prstGeom prst="roundRect">
            <a:avLst>
              <a:gd name="adj" fmla="val 10168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70835" y="1968755"/>
            <a:ext cx="875002" cy="875002"/>
          </a:xfrm>
          <a:prstGeom prst="ellipse">
            <a:avLst/>
          </a:prstGeom>
          <a:solidFill>
            <a:srgbClr val="DCE9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0419" y="2158338"/>
            <a:ext cx="495834" cy="495834"/>
          </a:xfrm>
          <a:prstGeom prst="ellipse">
            <a:avLst/>
          </a:prstGeom>
          <a:ln w="44450">
            <a:solidFill>
              <a:srgbClr val="0B1F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8336" y="2245839"/>
            <a:ext cx="0" cy="160417"/>
          </a:xfrm>
          <a:prstGeom prst="line">
            <a:avLst/>
          </a:prstGeom>
          <a:noFill/>
          <a:ln w="44450">
            <a:solidFill>
              <a:srgbClr val="0B1F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8336" y="2406256"/>
            <a:ext cx="102084" cy="72917"/>
          </a:xfrm>
          <a:prstGeom prst="line">
            <a:avLst/>
          </a:prstGeom>
          <a:noFill/>
          <a:ln w="44450">
            <a:solidFill>
              <a:srgbClr val="0B1F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25005" y="1976046"/>
            <a:ext cx="3645842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execution time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925005" y="2238547"/>
            <a:ext cx="3645842" cy="37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0.003273 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925005" y="2588548"/>
            <a:ext cx="3645842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B52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with 4 threads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5001" y="3098966"/>
            <a:ext cx="5279179" cy="1093753"/>
          </a:xfrm>
          <a:prstGeom prst="roundRect">
            <a:avLst>
              <a:gd name="adj" fmla="val 10032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70835" y="3208341"/>
            <a:ext cx="875002" cy="875002"/>
          </a:xfrm>
          <a:prstGeom prst="ellipse">
            <a:avLst/>
          </a:prstGeom>
          <a:solidFill>
            <a:srgbClr val="D3EBD6"/>
          </a:solidFill>
          <a:ln/>
        </p:spPr>
      </p:sp>
      <p:sp>
        <p:nvSpPr>
          <p:cNvPr id="29" name="Shape 27"/>
          <p:cNvSpPr/>
          <p:nvPr/>
        </p:nvSpPr>
        <p:spPr>
          <a:xfrm>
            <a:off x="875002" y="3689592"/>
            <a:ext cx="116667" cy="160417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0002" y="3587508"/>
            <a:ext cx="116667" cy="262501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31" name="Shape 29"/>
          <p:cNvSpPr/>
          <p:nvPr/>
        </p:nvSpPr>
        <p:spPr>
          <a:xfrm>
            <a:off x="1225003" y="3470841"/>
            <a:ext cx="116667" cy="379168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925005" y="3215633"/>
            <a:ext cx="3645842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Maximum speedup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925005" y="3478133"/>
            <a:ext cx="3645842" cy="37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2.07×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925005" y="3828134"/>
            <a:ext cx="3645842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B52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4 threads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25001" y="4353135"/>
            <a:ext cx="5279179" cy="933336"/>
          </a:xfrm>
          <a:prstGeom prst="roundRect">
            <a:avLst>
              <a:gd name="adj" fmla="val 11757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70835" y="4396885"/>
            <a:ext cx="875002" cy="875002"/>
          </a:xfrm>
          <a:prstGeom prst="ellipse">
            <a:avLst/>
          </a:prstGeom>
          <a:solidFill>
            <a:srgbClr val="FAE0BC"/>
          </a:solidFill>
          <a:ln/>
        </p:spPr>
      </p:sp>
      <p:sp>
        <p:nvSpPr>
          <p:cNvPr id="37" name="Shape 35"/>
          <p:cNvSpPr/>
          <p:nvPr/>
        </p:nvSpPr>
        <p:spPr>
          <a:xfrm>
            <a:off x="860419" y="4586469"/>
            <a:ext cx="495834" cy="495834"/>
          </a:xfrm>
          <a:prstGeom prst="star8">
            <a:avLst/>
          </a:prstGeom>
          <a:solidFill>
            <a:srgbClr val="8A4B12"/>
          </a:solidFill>
          <a:ln/>
        </p:spPr>
      </p:sp>
      <p:sp>
        <p:nvSpPr>
          <p:cNvPr id="38" name="Shape 36"/>
          <p:cNvSpPr/>
          <p:nvPr/>
        </p:nvSpPr>
        <p:spPr>
          <a:xfrm>
            <a:off x="1020836" y="4746886"/>
            <a:ext cx="175000" cy="175000"/>
          </a:xfrm>
          <a:prstGeom prst="ellipse">
            <a:avLst/>
          </a:prstGeom>
          <a:solidFill>
            <a:srgbClr val="FAE0B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925005" y="4455219"/>
            <a:ext cx="3645842" cy="24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Tested thread counts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925005" y="4717719"/>
            <a:ext cx="3645842" cy="37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1, 2, 4, 8, 12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19806" y="823960"/>
            <a:ext cx="5723972" cy="4673969"/>
          </a:xfrm>
          <a:prstGeom prst="roundRect">
            <a:avLst>
              <a:gd name="adj" fmla="val 2935"/>
            </a:avLst>
          </a:prstGeom>
          <a:solidFill>
            <a:srgbClr val="F1F8F3"/>
          </a:solidFill>
          <a:ln/>
        </p:spPr>
      </p:sp>
      <p:sp>
        <p:nvSpPr>
          <p:cNvPr id="42" name="Shape 40"/>
          <p:cNvSpPr/>
          <p:nvPr/>
        </p:nvSpPr>
        <p:spPr>
          <a:xfrm>
            <a:off x="6358348" y="977086"/>
            <a:ext cx="5454179" cy="736460"/>
          </a:xfrm>
          <a:prstGeom prst="roundRect">
            <a:avLst>
              <a:gd name="adj" fmla="val 18624"/>
            </a:avLst>
          </a:prstGeom>
          <a:solidFill>
            <a:srgbClr val="DFF0E1"/>
          </a:solidFill>
          <a:ln/>
        </p:spPr>
      </p:sp>
      <p:sp>
        <p:nvSpPr>
          <p:cNvPr id="43" name="Shape 41"/>
          <p:cNvSpPr/>
          <p:nvPr/>
        </p:nvSpPr>
        <p:spPr>
          <a:xfrm>
            <a:off x="6423973" y="955211"/>
            <a:ext cx="758335" cy="758335"/>
          </a:xfrm>
          <a:prstGeom prst="ellipse">
            <a:avLst/>
          </a:prstGeom>
          <a:solidFill>
            <a:srgbClr val="D3EBD6"/>
          </a:solidFill>
          <a:ln/>
        </p:spPr>
      </p:sp>
      <p:sp>
        <p:nvSpPr>
          <p:cNvPr id="44" name="Shape 42"/>
          <p:cNvSpPr/>
          <p:nvPr/>
        </p:nvSpPr>
        <p:spPr>
          <a:xfrm>
            <a:off x="6598974" y="1414587"/>
            <a:ext cx="116667" cy="160417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45" name="Shape 43"/>
          <p:cNvSpPr/>
          <p:nvPr/>
        </p:nvSpPr>
        <p:spPr>
          <a:xfrm>
            <a:off x="6773974" y="1312503"/>
            <a:ext cx="116667" cy="262501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46" name="Shape 44"/>
          <p:cNvSpPr/>
          <p:nvPr/>
        </p:nvSpPr>
        <p:spPr>
          <a:xfrm>
            <a:off x="6948975" y="1195836"/>
            <a:ext cx="116667" cy="379168"/>
          </a:xfrm>
          <a:prstGeom prst="rect">
            <a:avLst/>
          </a:prstGeom>
          <a:solidFill>
            <a:srgbClr val="1E7B3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408351" y="977086"/>
            <a:ext cx="4010426" cy="736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284392" y="1990630"/>
            <a:ext cx="4506261" cy="896877"/>
          </a:xfrm>
          <a:prstGeom prst="roundRect">
            <a:avLst>
              <a:gd name="adj" fmla="val 12234"/>
            </a:avLst>
          </a:prstGeom>
          <a:solidFill>
            <a:srgbClr val="E4EEFB"/>
          </a:solidFill>
          <a:ln/>
        </p:spPr>
      </p:sp>
      <p:sp>
        <p:nvSpPr>
          <p:cNvPr id="49" name="Shape 47"/>
          <p:cNvSpPr/>
          <p:nvPr/>
        </p:nvSpPr>
        <p:spPr>
          <a:xfrm>
            <a:off x="6460432" y="2092713"/>
            <a:ext cx="700002" cy="700002"/>
          </a:xfrm>
          <a:prstGeom prst="ellipse">
            <a:avLst/>
          </a:prstGeom>
          <a:solidFill>
            <a:srgbClr val="CFE0F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60432" y="2092713"/>
            <a:ext cx="700002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7539601" y="2034380"/>
            <a:ext cx="3281258" cy="809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effectively parallelizes sum and average for large datasets.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284392" y="3106257"/>
            <a:ext cx="4506261" cy="896877"/>
          </a:xfrm>
          <a:prstGeom prst="roundRect">
            <a:avLst>
              <a:gd name="adj" fmla="val 12234"/>
            </a:avLst>
          </a:prstGeom>
          <a:solidFill>
            <a:srgbClr val="E3F2E5"/>
          </a:solidFill>
          <a:ln/>
        </p:spPr>
      </p:sp>
      <p:sp>
        <p:nvSpPr>
          <p:cNvPr id="53" name="Shape 51"/>
          <p:cNvSpPr/>
          <p:nvPr/>
        </p:nvSpPr>
        <p:spPr>
          <a:xfrm>
            <a:off x="6460432" y="3208341"/>
            <a:ext cx="700002" cy="700002"/>
          </a:xfrm>
          <a:prstGeom prst="ellipse">
            <a:avLst/>
          </a:prstGeom>
          <a:solidFill>
            <a:srgbClr val="D3EBD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460432" y="3208341"/>
            <a:ext cx="700002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E7B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7539601" y="3150007"/>
            <a:ext cx="3281258" cy="809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improves up to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 threads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284392" y="4221885"/>
            <a:ext cx="4506261" cy="911460"/>
          </a:xfrm>
          <a:prstGeom prst="roundRect">
            <a:avLst>
              <a:gd name="adj" fmla="val 12039"/>
            </a:avLst>
          </a:prstGeom>
          <a:solidFill>
            <a:srgbClr val="FDEBD8"/>
          </a:solidFill>
          <a:ln/>
        </p:spPr>
      </p:sp>
      <p:sp>
        <p:nvSpPr>
          <p:cNvPr id="57" name="Shape 55"/>
          <p:cNvSpPr/>
          <p:nvPr/>
        </p:nvSpPr>
        <p:spPr>
          <a:xfrm>
            <a:off x="6460432" y="4323968"/>
            <a:ext cx="700002" cy="700002"/>
          </a:xfrm>
          <a:prstGeom prst="ellipse">
            <a:avLst/>
          </a:prstGeom>
          <a:solidFill>
            <a:srgbClr val="FAE0B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460432" y="4323968"/>
            <a:ext cx="700002" cy="70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8A4B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7539601" y="4265635"/>
            <a:ext cx="3281258" cy="82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More threads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 not always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result in better performance.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269792" y="5636472"/>
            <a:ext cx="11666694" cy="998961"/>
          </a:xfrm>
          <a:prstGeom prst="roundRect">
            <a:avLst>
              <a:gd name="adj" fmla="val 13730"/>
            </a:avLst>
          </a:prstGeom>
          <a:solidFill>
            <a:srgbClr val="F1E8FB"/>
          </a:solidFill>
          <a:ln/>
        </p:spPr>
      </p:sp>
      <p:sp>
        <p:nvSpPr>
          <p:cNvPr id="61" name="Shape 59"/>
          <p:cNvSpPr/>
          <p:nvPr/>
        </p:nvSpPr>
        <p:spPr>
          <a:xfrm>
            <a:off x="481251" y="5738555"/>
            <a:ext cx="787502" cy="787502"/>
          </a:xfrm>
          <a:prstGeom prst="ellipse">
            <a:avLst/>
          </a:prstGeom>
          <a:solidFill>
            <a:srgbClr val="D9C8F5"/>
          </a:solidFill>
          <a:ln/>
        </p:spPr>
      </p:sp>
      <p:sp>
        <p:nvSpPr>
          <p:cNvPr id="62" name="Shape 60"/>
          <p:cNvSpPr/>
          <p:nvPr/>
        </p:nvSpPr>
        <p:spPr>
          <a:xfrm>
            <a:off x="627085" y="5884389"/>
            <a:ext cx="495834" cy="495834"/>
          </a:xfrm>
          <a:prstGeom prst="ellipse">
            <a:avLst/>
          </a:prstGeom>
          <a:ln w="38100">
            <a:solidFill>
              <a:srgbClr val="3B1F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1877" y="5979181"/>
            <a:ext cx="306251" cy="306251"/>
          </a:xfrm>
          <a:prstGeom prst="ellipse">
            <a:avLst/>
          </a:prstGeom>
          <a:ln w="38100">
            <a:solidFill>
              <a:srgbClr val="3B1F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3960" y="6081264"/>
            <a:ext cx="102084" cy="102084"/>
          </a:xfrm>
          <a:prstGeom prst="ellipse">
            <a:avLst/>
          </a:prstGeom>
          <a:solidFill>
            <a:srgbClr val="3B1F8A"/>
          </a:solidFill>
          <a:ln/>
        </p:spPr>
      </p:sp>
      <p:sp>
        <p:nvSpPr>
          <p:cNvPr id="65" name="Shape 63"/>
          <p:cNvSpPr/>
          <p:nvPr/>
        </p:nvSpPr>
        <p:spPr>
          <a:xfrm>
            <a:off x="1516670" y="5796889"/>
            <a:ext cx="0" cy="692710"/>
          </a:xfrm>
          <a:prstGeom prst="line">
            <a:avLst/>
          </a:prstGeom>
          <a:noFill/>
          <a:ln w="15240">
            <a:solidFill>
              <a:srgbClr val="C9A8E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801046" y="5811472"/>
            <a:ext cx="5104179" cy="335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Overall Outcome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 txBox="1"/>
          <p:nvPr/>
        </p:nvSpPr>
        <p:spPr>
          <a:xfrm>
            <a:off x="1801046" y="6168764"/>
            <a:ext cx="9989607" cy="306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B1F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the effectiveness and limitations of parallel computing for a large-scale data processing task.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744</Words>
  <Application>Microsoft Office PowerPoint</Application>
  <PresentationFormat>Widescreen</PresentationFormat>
  <Paragraphs>222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Janaki M</cp:lastModifiedBy>
  <cp:revision>2</cp:revision>
  <dcterms:created xsi:type="dcterms:W3CDTF">2026-10-07T17:09:46Z</dcterms:created>
  <dcterms:modified xsi:type="dcterms:W3CDTF">2026-10-07T17:36:37Z</dcterms:modified>
</cp:coreProperties>
</file>